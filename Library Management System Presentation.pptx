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12192000"/>
  <p:notesSz cx="6858000" cy="9144000"/>
  <p:embeddedFontLst>
    <p:embeddedFont>
      <p:font typeface="Inter"/>
      <p:regular r:id="rId32"/>
      <p:bold r:id="rId33"/>
      <p:italic r:id="rId34"/>
      <p:boldItalic r:id="rId35"/>
    </p:embeddedFont>
    <p:embeddedFont>
      <p:font typeface="Space Grotesk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7F74035-E69C-45C6-9FD4-DB92943C1CCE}">
  <a:tblStyle styleId="{97F74035-E69C-45C6-9FD4-DB92943C1CC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Inter-bold.fntdata"/><Relationship Id="rId10" Type="http://schemas.openxmlformats.org/officeDocument/2006/relationships/slide" Target="slides/slide4.xml"/><Relationship Id="rId32" Type="http://schemas.openxmlformats.org/officeDocument/2006/relationships/font" Target="fonts/Inter-regular.fntdata"/><Relationship Id="rId13" Type="http://schemas.openxmlformats.org/officeDocument/2006/relationships/slide" Target="slides/slide7.xml"/><Relationship Id="rId35" Type="http://schemas.openxmlformats.org/officeDocument/2006/relationships/font" Target="fonts/Inter-boldItalic.fntdata"/><Relationship Id="rId12" Type="http://schemas.openxmlformats.org/officeDocument/2006/relationships/slide" Target="slides/slide6.xml"/><Relationship Id="rId34" Type="http://schemas.openxmlformats.org/officeDocument/2006/relationships/font" Target="fonts/Inter-italic.fntdata"/><Relationship Id="rId15" Type="http://schemas.openxmlformats.org/officeDocument/2006/relationships/slide" Target="slides/slide9.xml"/><Relationship Id="rId37" Type="http://schemas.openxmlformats.org/officeDocument/2006/relationships/font" Target="fonts/SpaceGrotesk-bold.fntdata"/><Relationship Id="rId14" Type="http://schemas.openxmlformats.org/officeDocument/2006/relationships/slide" Target="slides/slide8.xml"/><Relationship Id="rId36" Type="http://schemas.openxmlformats.org/officeDocument/2006/relationships/font" Target="fonts/SpaceGrotesk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19.png"/><Relationship Id="rId7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9" Type="http://schemas.openxmlformats.org/officeDocument/2006/relationships/image" Target="../media/image49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18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26.png"/><Relationship Id="rId9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17.png"/><Relationship Id="rId7" Type="http://schemas.openxmlformats.org/officeDocument/2006/relationships/image" Target="../media/image20.png"/><Relationship Id="rId8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26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26.png"/><Relationship Id="rId5" Type="http://schemas.openxmlformats.org/officeDocument/2006/relationships/image" Target="../media/image30.png"/><Relationship Id="rId6" Type="http://schemas.openxmlformats.org/officeDocument/2006/relationships/image" Target="../media/image45.png"/><Relationship Id="rId7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26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Relationship Id="rId7" Type="http://schemas.openxmlformats.org/officeDocument/2006/relationships/image" Target="../media/image3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35.png"/><Relationship Id="rId5" Type="http://schemas.openxmlformats.org/officeDocument/2006/relationships/image" Target="../media/image15.png"/><Relationship Id="rId6" Type="http://schemas.openxmlformats.org/officeDocument/2006/relationships/image" Target="../media/image3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35.png"/><Relationship Id="rId10" Type="http://schemas.openxmlformats.org/officeDocument/2006/relationships/image" Target="../media/image28.png"/><Relationship Id="rId9" Type="http://schemas.openxmlformats.org/officeDocument/2006/relationships/image" Target="../media/image27.png"/><Relationship Id="rId5" Type="http://schemas.openxmlformats.org/officeDocument/2006/relationships/image" Target="../media/image24.png"/><Relationship Id="rId6" Type="http://schemas.openxmlformats.org/officeDocument/2006/relationships/image" Target="../media/image22.png"/><Relationship Id="rId7" Type="http://schemas.openxmlformats.org/officeDocument/2006/relationships/image" Target="../media/image32.png"/><Relationship Id="rId8" Type="http://schemas.openxmlformats.org/officeDocument/2006/relationships/image" Target="../media/image4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35.png"/><Relationship Id="rId5" Type="http://schemas.openxmlformats.org/officeDocument/2006/relationships/image" Target="../media/image34.png"/><Relationship Id="rId6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35.png"/><Relationship Id="rId5" Type="http://schemas.openxmlformats.org/officeDocument/2006/relationships/image" Target="../media/image29.png"/><Relationship Id="rId6" Type="http://schemas.openxmlformats.org/officeDocument/2006/relationships/image" Target="../media/image3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33.png"/><Relationship Id="rId5" Type="http://schemas.openxmlformats.org/officeDocument/2006/relationships/image" Target="../media/image3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33.png"/><Relationship Id="rId5" Type="http://schemas.openxmlformats.org/officeDocument/2006/relationships/image" Target="../media/image37.png"/><Relationship Id="rId6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33.png"/><Relationship Id="rId5" Type="http://schemas.openxmlformats.org/officeDocument/2006/relationships/image" Target="../media/image39.png"/><Relationship Id="rId6" Type="http://schemas.openxmlformats.org/officeDocument/2006/relationships/image" Target="../media/image5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33.png"/><Relationship Id="rId5" Type="http://schemas.openxmlformats.org/officeDocument/2006/relationships/image" Target="../media/image4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33.png"/><Relationship Id="rId5" Type="http://schemas.openxmlformats.org/officeDocument/2006/relationships/image" Target="../media/image42.png"/><Relationship Id="rId6" Type="http://schemas.openxmlformats.org/officeDocument/2006/relationships/image" Target="../media/image37.png"/><Relationship Id="rId7" Type="http://schemas.openxmlformats.org/officeDocument/2006/relationships/image" Target="../media/image4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41.png"/><Relationship Id="rId5" Type="http://schemas.openxmlformats.org/officeDocument/2006/relationships/image" Target="../media/image5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image" Target="../media/image4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41.png"/><Relationship Id="rId5" Type="http://schemas.openxmlformats.org/officeDocument/2006/relationships/image" Target="../media/image5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image" Target="../media/image41.png"/><Relationship Id="rId5" Type="http://schemas.openxmlformats.org/officeDocument/2006/relationships/image" Target="../media/image47.png"/><Relationship Id="rId6" Type="http://schemas.openxmlformats.org/officeDocument/2006/relationships/image" Target="../media/image5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Relationship Id="rId4" Type="http://schemas.openxmlformats.org/officeDocument/2006/relationships/image" Target="../media/image4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image" Target="../media/image41.png"/><Relationship Id="rId10" Type="http://schemas.openxmlformats.org/officeDocument/2006/relationships/image" Target="../media/image50.png"/><Relationship Id="rId9" Type="http://schemas.openxmlformats.org/officeDocument/2006/relationships/image" Target="../media/image57.png"/><Relationship Id="rId5" Type="http://schemas.openxmlformats.org/officeDocument/2006/relationships/image" Target="../media/image46.png"/><Relationship Id="rId6" Type="http://schemas.openxmlformats.org/officeDocument/2006/relationships/image" Target="../media/image51.png"/><Relationship Id="rId7" Type="http://schemas.openxmlformats.org/officeDocument/2006/relationships/image" Target="../media/image48.png"/><Relationship Id="rId8" Type="http://schemas.openxmlformats.org/officeDocument/2006/relationships/image" Target="../media/image5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Relationship Id="rId4" Type="http://schemas.openxmlformats.org/officeDocument/2006/relationships/image" Target="../media/image4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25125" y="6238875"/>
            <a:ext cx="12858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1647825"/>
            <a:ext cx="1160145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Library Management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590925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Data Structure Lab Project Implementation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62475" y="449386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4205287" y="4874865"/>
            <a:ext cx="11906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C Language</a:t>
            </a:r>
            <a:endParaRPr/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0" y="449386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5776912" y="4874865"/>
            <a:ext cx="11620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Linked Lists</a:t>
            </a:r>
            <a:endParaRPr/>
          </a:p>
        </p:txBody>
      </p:sp>
      <p:pic>
        <p:nvPicPr>
          <p:cNvPr descr="image.png" id="92" name="Google Shape;92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39025" y="449386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7319962" y="4874865"/>
            <a:ext cx="666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Stacks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25125" y="6238875"/>
            <a:ext cx="12858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823269"/>
            <a:ext cx="5238750" cy="205323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Digital Transformation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571500"/>
            <a:ext cx="47625" cy="46092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2749153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Moving from manual ledger entry to an </a:t>
            </a: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automated, high-efficiency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digital environment.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667500" y="3109019"/>
            <a:ext cx="49006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Goal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667500" y="3547169"/>
            <a:ext cx="46672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To implement a scalable solution that manages Books, Users, and Transactions with </a:t>
            </a: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O(1)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or </a:t>
            </a: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O(n)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time complexity for core operations.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42950" y="3610927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57250" y="3609975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Instant Book Retrieval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42950" y="3946088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57250" y="3945135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Automated Fine Calculation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742950" y="4281249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57250" y="4280296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User Activity Monitoring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42950" y="4616410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57250" y="4615457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Persistent Record Storage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25125" y="6238875"/>
            <a:ext cx="12858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23244"/>
            <a:ext cx="3492400" cy="24532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9650" y="2623244"/>
            <a:ext cx="3492549" cy="24532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7950" y="2623244"/>
            <a:ext cx="3492400" cy="245328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Overview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71500" y="571500"/>
            <a:ext cx="47625" cy="46092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908994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857250" y="3309044"/>
            <a:ext cx="306694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Admin Portal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57250" y="3747194"/>
            <a:ext cx="29209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Add/Remove books, manage user databases, and clear pending dues.</a:t>
            </a:r>
            <a:endParaRPr/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5400" y="2908994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4635400" y="3309044"/>
            <a:ext cx="306710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 Interface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4635400" y="3747194"/>
            <a:ext cx="2921049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Personal profiles, borrowing history, and real-time fine tracking.</a:t>
            </a:r>
            <a:endParaRPr/>
          </a:p>
        </p:txBody>
      </p:sp>
      <p:pic>
        <p:nvPicPr>
          <p:cNvPr descr="image.png" id="131" name="Google Shape;13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13700" y="2908994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8413700" y="3309044"/>
            <a:ext cx="306694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Global Search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413700" y="3747194"/>
            <a:ext cx="29209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Multi-parameter search: ID, Title, Author, or Category.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25125" y="6238875"/>
            <a:ext cx="12858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55689"/>
            <a:ext cx="5238750" cy="23883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823269"/>
            <a:ext cx="5238750" cy="205323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Problem Statement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71500" y="571500"/>
            <a:ext cx="47625" cy="46092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857250" y="2941439"/>
            <a:ext cx="49006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Challenge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57250" y="3379589"/>
            <a:ext cx="466725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Traditional libraries struggle with </a:t>
            </a: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Static Capacity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Data Persistence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. Hard-coded arrays cannot grow, and program crashes lead to data loss.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667500" y="3109019"/>
            <a:ext cx="49006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Solution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667500" y="3547169"/>
            <a:ext cx="46672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Implementation of </a:t>
            </a: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Dynamic Data Structures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(Linked Lists) for runtime growth and </a:t>
            </a: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File Handling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to save memory states to disk.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6550" y="6238875"/>
            <a:ext cx="13144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6777" y="3139380"/>
            <a:ext cx="1800225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48138" y="3139380"/>
            <a:ext cx="16954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64724" y="3139380"/>
            <a:ext cx="160020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Architecture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71500" y="571500"/>
            <a:ext cx="47625" cy="46092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571500" y="4320480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Modular approach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separating memory allocation from data storage.</a:t>
            </a:r>
            <a:endParaRPr/>
          </a:p>
        </p:txBody>
      </p:sp>
      <p:pic>
        <p:nvPicPr>
          <p:cNvPr descr="image.png" id="160" name="Google Shape;16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37558" y="337274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54144" y="3372742"/>
            <a:ext cx="20002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6550" y="6238875"/>
            <a:ext cx="13144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750" y="2594669"/>
            <a:ext cx="4857750" cy="25104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79341"/>
            <a:ext cx="14287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67000" y="3779341"/>
            <a:ext cx="14287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0" y="3779341"/>
            <a:ext cx="14287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Core Structure: Book Node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571500" y="571500"/>
            <a:ext cx="47625" cy="46092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571500" y="3158430"/>
            <a:ext cx="5619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Each book is a </a:t>
            </a: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Node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in a Singly Linked List.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7048500" y="2880419"/>
            <a:ext cx="450056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Struct definition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7048500" y="3318569"/>
            <a:ext cx="4286250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FFDA"/>
                </a:solidFill>
                <a:latin typeface="Arial"/>
                <a:ea typeface="Arial"/>
                <a:cs typeface="Arial"/>
                <a:sym typeface="Arial"/>
              </a:rPr>
              <a:t>typedef struct Book {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64FFDA"/>
                </a:solidFill>
                <a:latin typeface="Arial"/>
                <a:ea typeface="Arial"/>
                <a:cs typeface="Arial"/>
                <a:sym typeface="Arial"/>
              </a:rPr>
              <a:t>   int id;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64FFDA"/>
                </a:solidFill>
                <a:latin typeface="Arial"/>
                <a:ea typeface="Arial"/>
                <a:cs typeface="Arial"/>
                <a:sym typeface="Arial"/>
              </a:rPr>
              <a:t>   char title[50];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64FFDA"/>
                </a:solidFill>
                <a:latin typeface="Arial"/>
                <a:ea typeface="Arial"/>
                <a:cs typeface="Arial"/>
                <a:sym typeface="Arial"/>
              </a:rPr>
              <a:t>   int available;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64FFDA"/>
                </a:solidFill>
                <a:latin typeface="Arial"/>
                <a:ea typeface="Arial"/>
                <a:cs typeface="Arial"/>
                <a:sym typeface="Arial"/>
              </a:rPr>
              <a:t>   struct Book *next;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64FFDA"/>
                </a:solidFill>
                <a:latin typeface="Arial"/>
                <a:ea typeface="Arial"/>
                <a:cs typeface="Arial"/>
                <a:sym typeface="Arial"/>
              </a:rPr>
              <a:t> } Book;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590550" y="3798391"/>
            <a:ext cx="1390650" cy="434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Book #101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590550" y="4223146"/>
            <a:ext cx="1390650" cy="952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590550" y="4232671"/>
            <a:ext cx="13906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Next ptr</a:t>
            </a:r>
            <a:endParaRPr/>
          </a:p>
        </p:txBody>
      </p:sp>
      <p:pic>
        <p:nvPicPr>
          <p:cNvPr descr="image.png" id="180" name="Google Shape;180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90750" y="4041278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2686050" y="3798391"/>
            <a:ext cx="1390650" cy="434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Book #102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2686050" y="4223146"/>
            <a:ext cx="1390650" cy="952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2686050" y="4232671"/>
            <a:ext cx="13906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Next ptr</a:t>
            </a:r>
            <a:endParaRPr/>
          </a:p>
        </p:txBody>
      </p:sp>
      <p:pic>
        <p:nvPicPr>
          <p:cNvPr descr="image.png" id="184" name="Google Shape;18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86250" y="4041278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4781550" y="3798391"/>
            <a:ext cx="1390650" cy="434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NULL</a:t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4781550" y="4223146"/>
            <a:ext cx="1390650" cy="952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6550" y="6238875"/>
            <a:ext cx="13144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32769"/>
            <a:ext cx="5238750" cy="17180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465189"/>
            <a:ext cx="5238750" cy="205323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Users &amp; Issue Tracking</a:t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571500" y="571500"/>
            <a:ext cx="47625" cy="46092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571500" y="4899421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Logic: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Issue ID -&gt; [Book Link] [User Link]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857250" y="2918519"/>
            <a:ext cx="49006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 Node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857250" y="3356669"/>
            <a:ext cx="46672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Stores unique IDs, Names, and Dept. Linked list allows unlimited registrations.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6667500" y="2750939"/>
            <a:ext cx="49006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Issue Record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6667500" y="3189089"/>
            <a:ext cx="46672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Transaction Layer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. Connects a </a:t>
            </a:r>
            <a:r>
              <a:rPr b="0" i="1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BookID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to a </a:t>
            </a:r>
            <a:r>
              <a:rPr b="0" i="1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UserID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with two time structures: IssueDate and ReturnDate.</a:t>
            </a:r>
            <a:endParaRPr/>
          </a:p>
        </p:txBody>
      </p:sp>
      <p:pic>
        <p:nvPicPr>
          <p:cNvPr descr="image.png" id="202" name="Google Shape;20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00862" y="4956571"/>
            <a:ext cx="20955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6550" y="6238875"/>
            <a:ext cx="13144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76500" y="3584971"/>
            <a:ext cx="1428750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95550" y="4375546"/>
            <a:ext cx="139065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95550" y="3985021"/>
            <a:ext cx="139065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Recent Activity Stack</a:t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571500" y="571500"/>
            <a:ext cx="47625" cy="46092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571500" y="2724150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To track the </a:t>
            </a: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Latest Activity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, we implemented a </a:t>
            </a: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LIFO (Last-In, First-Out)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Stack.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6381750" y="3237607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Functionality</a:t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2495550" y="3604021"/>
            <a:ext cx="1390650" cy="3810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2590800" y="3699271"/>
            <a:ext cx="1200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Latest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6267450" y="3457634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6381750" y="3456682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Push: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Every time a book is issued, the ID is pushed to stack.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6267450" y="4127956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6381750" y="4127003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Display: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Shows the last 5 transactions instantly.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6550" y="6238875"/>
            <a:ext cx="13144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23269"/>
            <a:ext cx="5238750" cy="20532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990850"/>
            <a:ext cx="5238750" cy="1718071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Memory Loading &amp; Persistence</a:t>
            </a:r>
            <a:endParaRPr/>
          </a:p>
        </p:txBody>
      </p:sp>
      <p:sp>
        <p:nvSpPr>
          <p:cNvPr id="231" name="Google Shape;231;p21"/>
          <p:cNvSpPr/>
          <p:nvPr/>
        </p:nvSpPr>
        <p:spPr>
          <a:xfrm>
            <a:off x="571500" y="571500"/>
            <a:ext cx="47625" cy="46092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857250" y="3109019"/>
            <a:ext cx="49006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Load Phase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857250" y="3547169"/>
            <a:ext cx="46672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On startup, </a:t>
            </a: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fread()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scans binary files and calls </a:t>
            </a: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malloc()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to recreate the Linked List in heap memory.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6667500" y="3276600"/>
            <a:ext cx="49006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Save Phase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6667500" y="3714750"/>
            <a:ext cx="46672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On exit, the system traverses each list, writing node data via </a:t>
            </a: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fwrite()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before freeing memory.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6550" y="6238875"/>
            <a:ext cx="13144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38725" y="1654373"/>
            <a:ext cx="211455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38725" y="2625923"/>
            <a:ext cx="211455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38725" y="3597473"/>
            <a:ext cx="211455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38725" y="4569023"/>
            <a:ext cx="211455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38725" y="5540573"/>
            <a:ext cx="2114550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2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Algorithm: Adding Records</a:t>
            </a:r>
            <a:endParaRPr/>
          </a:p>
        </p:txBody>
      </p:sp>
      <p:sp>
        <p:nvSpPr>
          <p:cNvPr id="248" name="Google Shape;248;p22"/>
          <p:cNvSpPr/>
          <p:nvPr/>
        </p:nvSpPr>
        <p:spPr>
          <a:xfrm>
            <a:off x="571500" y="571500"/>
            <a:ext cx="47625" cy="46092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9" name="Google Shape;249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81700" y="227349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81700" y="324504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81700" y="421659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81700" y="5188148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6550" y="6238875"/>
            <a:ext cx="13144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14662"/>
            <a:ext cx="5238750" cy="16704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823269"/>
            <a:ext cx="5238750" cy="2053232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Search Algorithm Efficiency</a:t>
            </a:r>
            <a:endParaRPr/>
          </a:p>
        </p:txBody>
      </p:sp>
      <p:sp>
        <p:nvSpPr>
          <p:cNvPr id="262" name="Google Shape;262;p23"/>
          <p:cNvSpPr/>
          <p:nvPr/>
        </p:nvSpPr>
        <p:spPr>
          <a:xfrm>
            <a:off x="571500" y="571500"/>
            <a:ext cx="47625" cy="46092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 txBox="1"/>
          <p:nvPr/>
        </p:nvSpPr>
        <p:spPr>
          <a:xfrm>
            <a:off x="571500" y="3014662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We implemented </a:t>
            </a: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Linear Search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for simplicity and flexibility.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6667500" y="3109019"/>
            <a:ext cx="49006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Technicality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6667500" y="3547169"/>
            <a:ext cx="46672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Used </a:t>
            </a: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strstr()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for string matching, allowing users to find "Data Structures" by just typing "Data".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6550" y="6238875"/>
            <a:ext cx="13144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86050"/>
            <a:ext cx="11049000" cy="12799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0" y="4251721"/>
            <a:ext cx="14287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0" y="4251721"/>
            <a:ext cx="14287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4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 Registry</a:t>
            </a:r>
            <a:endParaRPr/>
          </a:p>
        </p:txBody>
      </p:sp>
      <p:sp>
        <p:nvSpPr>
          <p:cNvPr id="276" name="Google Shape;276;p24"/>
          <p:cNvSpPr/>
          <p:nvPr/>
        </p:nvSpPr>
        <p:spPr>
          <a:xfrm>
            <a:off x="571500" y="571500"/>
            <a:ext cx="47625" cy="46092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4"/>
          <p:cNvSpPr txBox="1"/>
          <p:nvPr/>
        </p:nvSpPr>
        <p:spPr>
          <a:xfrm>
            <a:off x="857250" y="2971800"/>
            <a:ext cx="10477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Managing students and faculty requires strict </a:t>
            </a: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validation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. The system ensures that a user cannot be removed if they have </a:t>
            </a: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Active Issues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or </a:t>
            </a: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Unpaid Fines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4591050" y="4270771"/>
            <a:ext cx="1390650" cy="434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Student: #251</a:t>
            </a:r>
            <a:endParaRPr/>
          </a:p>
        </p:txBody>
      </p:sp>
      <p:sp>
        <p:nvSpPr>
          <p:cNvPr id="279" name="Google Shape;279;p24"/>
          <p:cNvSpPr/>
          <p:nvPr/>
        </p:nvSpPr>
        <p:spPr>
          <a:xfrm>
            <a:off x="4591050" y="4695527"/>
            <a:ext cx="1390650" cy="952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 txBox="1"/>
          <p:nvPr/>
        </p:nvSpPr>
        <p:spPr>
          <a:xfrm>
            <a:off x="4591050" y="4705052"/>
            <a:ext cx="13906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Valid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6210300" y="4270771"/>
            <a:ext cx="1390650" cy="434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Faculty: #502</a:t>
            </a:r>
            <a:endParaRPr/>
          </a:p>
        </p:txBody>
      </p:sp>
      <p:sp>
        <p:nvSpPr>
          <p:cNvPr id="282" name="Google Shape;282;p24"/>
          <p:cNvSpPr/>
          <p:nvPr/>
        </p:nvSpPr>
        <p:spPr>
          <a:xfrm>
            <a:off x="6210300" y="4695527"/>
            <a:ext cx="1390650" cy="952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 txBox="1"/>
          <p:nvPr/>
        </p:nvSpPr>
        <p:spPr>
          <a:xfrm>
            <a:off x="6210300" y="4705052"/>
            <a:ext cx="13906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Valid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6550" y="6238875"/>
            <a:ext cx="13144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01305"/>
            <a:ext cx="2619375" cy="17180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1375" y="3301305"/>
            <a:ext cx="2619375" cy="17180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3301305"/>
            <a:ext cx="2619375" cy="17180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01125" y="3301305"/>
            <a:ext cx="2619375" cy="1718071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5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Borrowing Logic: The Issue</a:t>
            </a:r>
            <a:endParaRPr/>
          </a:p>
        </p:txBody>
      </p:sp>
      <p:sp>
        <p:nvSpPr>
          <p:cNvPr id="295" name="Google Shape;295;p25"/>
          <p:cNvSpPr/>
          <p:nvPr/>
        </p:nvSpPr>
        <p:spPr>
          <a:xfrm>
            <a:off x="571500" y="571500"/>
            <a:ext cx="47625" cy="46092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5"/>
          <p:cNvSpPr txBox="1"/>
          <p:nvPr/>
        </p:nvSpPr>
        <p:spPr>
          <a:xfrm>
            <a:off x="571500" y="2680394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A multi-step validation process before memory allocation.</a:t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857250" y="3587055"/>
            <a:ext cx="215026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/>
          </a:p>
        </p:txBody>
      </p:sp>
      <p:sp>
        <p:nvSpPr>
          <p:cNvPr id="298" name="Google Shape;298;p25"/>
          <p:cNvSpPr txBox="1"/>
          <p:nvPr/>
        </p:nvSpPr>
        <p:spPr>
          <a:xfrm>
            <a:off x="857250" y="4025205"/>
            <a:ext cx="20478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Verify User ID</a:t>
            </a:r>
            <a:endParaRPr/>
          </a:p>
        </p:txBody>
      </p:sp>
      <p:sp>
        <p:nvSpPr>
          <p:cNvPr id="299" name="Google Shape;299;p25"/>
          <p:cNvSpPr txBox="1"/>
          <p:nvPr/>
        </p:nvSpPr>
        <p:spPr>
          <a:xfrm>
            <a:off x="3667125" y="3587055"/>
            <a:ext cx="215026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/>
          </a:p>
        </p:txBody>
      </p:sp>
      <p:sp>
        <p:nvSpPr>
          <p:cNvPr id="300" name="Google Shape;300;p25"/>
          <p:cNvSpPr txBox="1"/>
          <p:nvPr/>
        </p:nvSpPr>
        <p:spPr>
          <a:xfrm>
            <a:off x="3667125" y="4025205"/>
            <a:ext cx="20478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Verify Book ID</a:t>
            </a:r>
            <a:endParaRPr/>
          </a:p>
        </p:txBody>
      </p:sp>
      <p:sp>
        <p:nvSpPr>
          <p:cNvPr id="301" name="Google Shape;301;p25"/>
          <p:cNvSpPr txBox="1"/>
          <p:nvPr/>
        </p:nvSpPr>
        <p:spPr>
          <a:xfrm>
            <a:off x="6477000" y="3587055"/>
            <a:ext cx="215026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6477000" y="4025205"/>
            <a:ext cx="20478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Check "Available" &gt; 0</a:t>
            </a:r>
            <a:endParaRPr/>
          </a:p>
        </p:txBody>
      </p:sp>
      <p:sp>
        <p:nvSpPr>
          <p:cNvPr id="303" name="Google Shape;303;p25"/>
          <p:cNvSpPr txBox="1"/>
          <p:nvPr/>
        </p:nvSpPr>
        <p:spPr>
          <a:xfrm>
            <a:off x="9286875" y="3587055"/>
            <a:ext cx="215026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4</a:t>
            </a:r>
            <a:endParaRPr/>
          </a:p>
        </p:txBody>
      </p:sp>
      <p:sp>
        <p:nvSpPr>
          <p:cNvPr id="304" name="Google Shape;304;p25"/>
          <p:cNvSpPr txBox="1"/>
          <p:nvPr/>
        </p:nvSpPr>
        <p:spPr>
          <a:xfrm>
            <a:off x="9286875" y="4025205"/>
            <a:ext cx="20478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Check "Fine" == 0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9" name="Google Shape;30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6550" y="6238875"/>
            <a:ext cx="13144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990850"/>
            <a:ext cx="5238750" cy="17180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21260"/>
            <a:ext cx="5238750" cy="1718071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6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Time &amp; Date Management</a:t>
            </a:r>
            <a:endParaRPr/>
          </a:p>
        </p:txBody>
      </p:sp>
      <p:sp>
        <p:nvSpPr>
          <p:cNvPr id="314" name="Google Shape;314;p26"/>
          <p:cNvSpPr/>
          <p:nvPr/>
        </p:nvSpPr>
        <p:spPr>
          <a:xfrm>
            <a:off x="571500" y="571500"/>
            <a:ext cx="47625" cy="46092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6"/>
          <p:cNvSpPr txBox="1"/>
          <p:nvPr/>
        </p:nvSpPr>
        <p:spPr>
          <a:xfrm>
            <a:off x="571500" y="2560439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We used the standard </a:t>
            </a: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time.h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library and </a:t>
            </a: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struct tm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to store precise data.</a:t>
            </a:r>
            <a:endParaRPr/>
          </a:p>
        </p:txBody>
      </p:sp>
      <p:sp>
        <p:nvSpPr>
          <p:cNvPr id="316" name="Google Shape;316;p26"/>
          <p:cNvSpPr txBox="1"/>
          <p:nvPr/>
        </p:nvSpPr>
        <p:spPr>
          <a:xfrm>
            <a:off x="6667500" y="3276600"/>
            <a:ext cx="49006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Calculation</a:t>
            </a:r>
            <a:endParaRPr/>
          </a:p>
        </p:txBody>
      </p:sp>
      <p:sp>
        <p:nvSpPr>
          <p:cNvPr id="317" name="Google Shape;317;p26"/>
          <p:cNvSpPr txBox="1"/>
          <p:nvPr/>
        </p:nvSpPr>
        <p:spPr>
          <a:xfrm>
            <a:off x="6667500" y="3714750"/>
            <a:ext cx="46672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Used </a:t>
            </a: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difftime()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mktime()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to calculate the exact gap in days between Issue and Return.</a:t>
            </a:r>
            <a:endParaRPr/>
          </a:p>
        </p:txBody>
      </p:sp>
      <p:sp>
        <p:nvSpPr>
          <p:cNvPr id="318" name="Google Shape;318;p26"/>
          <p:cNvSpPr txBox="1"/>
          <p:nvPr/>
        </p:nvSpPr>
        <p:spPr>
          <a:xfrm>
            <a:off x="857250" y="3707010"/>
            <a:ext cx="49006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Format: DD/MM/YYYY</a:t>
            </a:r>
            <a:endParaRPr/>
          </a:p>
        </p:txBody>
      </p:sp>
      <p:sp>
        <p:nvSpPr>
          <p:cNvPr id="319" name="Google Shape;319;p26"/>
          <p:cNvSpPr txBox="1"/>
          <p:nvPr/>
        </p:nvSpPr>
        <p:spPr>
          <a:xfrm>
            <a:off x="857250" y="4145160"/>
            <a:ext cx="46672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Includes a </a:t>
            </a: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Date Validator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to prevent "32/13/2024" type errors.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4" name="Google Shape;32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6550" y="6238875"/>
            <a:ext cx="13144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53630"/>
            <a:ext cx="11049000" cy="199251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7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Fine Logic Implementation</a:t>
            </a:r>
            <a:endParaRPr/>
          </a:p>
        </p:txBody>
      </p:sp>
      <p:sp>
        <p:nvSpPr>
          <p:cNvPr id="328" name="Google Shape;328;p27"/>
          <p:cNvSpPr/>
          <p:nvPr/>
        </p:nvSpPr>
        <p:spPr>
          <a:xfrm>
            <a:off x="571500" y="571500"/>
            <a:ext cx="47625" cy="46092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7"/>
          <p:cNvSpPr txBox="1"/>
          <p:nvPr/>
        </p:nvSpPr>
        <p:spPr>
          <a:xfrm>
            <a:off x="595312" y="3139380"/>
            <a:ext cx="110013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Formula</a:t>
            </a:r>
            <a:endParaRPr/>
          </a:p>
        </p:txBody>
      </p:sp>
      <p:sp>
        <p:nvSpPr>
          <p:cNvPr id="330" name="Google Shape;330;p27"/>
          <p:cNvSpPr txBox="1"/>
          <p:nvPr/>
        </p:nvSpPr>
        <p:spPr>
          <a:xfrm>
            <a:off x="857250" y="4187130"/>
            <a:ext cx="10477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7-day grace period, 5 tk per day late fee.</a:t>
            </a:r>
            <a:endParaRPr/>
          </a:p>
        </p:txBody>
      </p:sp>
      <p:pic>
        <p:nvPicPr>
          <p:cNvPr descr="image.png" id="331" name="Google Shape;331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2383" y="3701355"/>
            <a:ext cx="4047083" cy="289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6" name="Google Shape;33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6550" y="6238875"/>
            <a:ext cx="13144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82230"/>
            <a:ext cx="5238750" cy="153531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8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Pushing to Stack</a:t>
            </a:r>
            <a:endParaRPr/>
          </a:p>
        </p:txBody>
      </p:sp>
      <p:sp>
        <p:nvSpPr>
          <p:cNvPr id="340" name="Google Shape;340;p28"/>
          <p:cNvSpPr/>
          <p:nvPr/>
        </p:nvSpPr>
        <p:spPr>
          <a:xfrm>
            <a:off x="571500" y="571500"/>
            <a:ext cx="47625" cy="46092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8"/>
          <p:cNvSpPr txBox="1"/>
          <p:nvPr/>
        </p:nvSpPr>
        <p:spPr>
          <a:xfrm>
            <a:off x="857250" y="3367980"/>
            <a:ext cx="49006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Stack Logic</a:t>
            </a:r>
            <a:endParaRPr/>
          </a:p>
        </p:txBody>
      </p:sp>
      <p:sp>
        <p:nvSpPr>
          <p:cNvPr id="342" name="Google Shape;342;p28"/>
          <p:cNvSpPr txBox="1"/>
          <p:nvPr/>
        </p:nvSpPr>
        <p:spPr>
          <a:xfrm>
            <a:off x="857250" y="3806130"/>
            <a:ext cx="46672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FFDA"/>
                </a:solidFill>
                <a:latin typeface="Arial"/>
                <a:ea typeface="Arial"/>
                <a:cs typeface="Arial"/>
                <a:sym typeface="Arial"/>
              </a:rPr>
              <a:t>node-&gt;next = stackTop;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64FFDA"/>
                </a:solidFill>
                <a:latin typeface="Arial"/>
                <a:ea typeface="Arial"/>
                <a:cs typeface="Arial"/>
                <a:sym typeface="Arial"/>
              </a:rPr>
              <a:t> stackTop = node;</a:t>
            </a:r>
            <a:endParaRPr/>
          </a:p>
        </p:txBody>
      </p:sp>
      <p:sp>
        <p:nvSpPr>
          <p:cNvPr id="343" name="Google Shape;343;p28"/>
          <p:cNvSpPr txBox="1"/>
          <p:nvPr/>
        </p:nvSpPr>
        <p:spPr>
          <a:xfrm>
            <a:off x="6381750" y="3347144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Used for the </a:t>
            </a: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"Recent Activity"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dashboard. Unlike the main lists, the stack is cleared when viewed, ensuring the cache stays fresh.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8" name="Google Shape;34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6550" y="6238875"/>
            <a:ext cx="13144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0" name="Google Shape;35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37519"/>
            <a:ext cx="5238750" cy="2624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990850"/>
            <a:ext cx="5238750" cy="1718071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9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Memory Cleanup &amp; Safety</a:t>
            </a:r>
            <a:endParaRPr/>
          </a:p>
        </p:txBody>
      </p:sp>
      <p:sp>
        <p:nvSpPr>
          <p:cNvPr id="353" name="Google Shape;353;p29"/>
          <p:cNvSpPr/>
          <p:nvPr/>
        </p:nvSpPr>
        <p:spPr>
          <a:xfrm>
            <a:off x="571500" y="571500"/>
            <a:ext cx="47625" cy="46092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4" name="Google Shape;354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823269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9"/>
          <p:cNvSpPr txBox="1"/>
          <p:nvPr/>
        </p:nvSpPr>
        <p:spPr>
          <a:xfrm>
            <a:off x="857250" y="3394769"/>
            <a:ext cx="49006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Freeing Memory</a:t>
            </a:r>
            <a:endParaRPr/>
          </a:p>
        </p:txBody>
      </p:sp>
      <p:sp>
        <p:nvSpPr>
          <p:cNvPr id="356" name="Google Shape;356;p29"/>
          <p:cNvSpPr txBox="1"/>
          <p:nvPr/>
        </p:nvSpPr>
        <p:spPr>
          <a:xfrm>
            <a:off x="857250" y="3832919"/>
            <a:ext cx="46672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Crucial for preventing </a:t>
            </a: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Memory Leaks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. Loops through Head -&gt; Next, calling </a:t>
            </a: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free()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for every node.</a:t>
            </a:r>
            <a:endParaRPr/>
          </a:p>
        </p:txBody>
      </p:sp>
      <p:sp>
        <p:nvSpPr>
          <p:cNvPr id="357" name="Google Shape;357;p29"/>
          <p:cNvSpPr txBox="1"/>
          <p:nvPr/>
        </p:nvSpPr>
        <p:spPr>
          <a:xfrm>
            <a:off x="6667500" y="3276600"/>
            <a:ext cx="49006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Null Safety</a:t>
            </a:r>
            <a:endParaRPr/>
          </a:p>
        </p:txBody>
      </p:sp>
      <p:sp>
        <p:nvSpPr>
          <p:cNvPr id="358" name="Google Shape;358;p29"/>
          <p:cNvSpPr txBox="1"/>
          <p:nvPr/>
        </p:nvSpPr>
        <p:spPr>
          <a:xfrm>
            <a:off x="6667500" y="3714750"/>
            <a:ext cx="46672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Ensures pointers are reset to </a:t>
            </a: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NULL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after deletion to prevent "Dangling Pointers".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3" name="Google Shape;36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6550" y="6238875"/>
            <a:ext cx="13144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76698"/>
            <a:ext cx="11049000" cy="1946374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0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Demo: Admin Dashboard</a:t>
            </a:r>
            <a:endParaRPr/>
          </a:p>
        </p:txBody>
      </p:sp>
      <p:sp>
        <p:nvSpPr>
          <p:cNvPr id="367" name="Google Shape;367;p30"/>
          <p:cNvSpPr/>
          <p:nvPr/>
        </p:nvSpPr>
        <p:spPr>
          <a:xfrm>
            <a:off x="571500" y="571500"/>
            <a:ext cx="47625" cy="46092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0"/>
          <p:cNvSpPr txBox="1"/>
          <p:nvPr/>
        </p:nvSpPr>
        <p:spPr>
          <a:xfrm>
            <a:off x="857250" y="3162448"/>
            <a:ext cx="10477500" cy="1336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892B0"/>
                </a:solidFill>
                <a:latin typeface="Arial"/>
                <a:ea typeface="Arial"/>
                <a:cs typeface="Arial"/>
                <a:sym typeface="Arial"/>
              </a:rPr>
              <a:t>===== ADMIN DASHBOARD =====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8892B0"/>
                </a:solidFill>
                <a:latin typeface="Arial"/>
                <a:ea typeface="Arial"/>
                <a:cs typeface="Arial"/>
                <a:sym typeface="Arial"/>
              </a:rPr>
              <a:t> Total Books: 145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8892B0"/>
                </a:solidFill>
                <a:latin typeface="Arial"/>
                <a:ea typeface="Arial"/>
                <a:cs typeface="Arial"/>
                <a:sym typeface="Arial"/>
              </a:rPr>
              <a:t> Total Users: 89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8892B0"/>
                </a:solidFill>
                <a:latin typeface="Arial"/>
                <a:ea typeface="Arial"/>
                <a:cs typeface="Arial"/>
                <a:sym typeface="Arial"/>
              </a:rPr>
              <a:t> Active Issued: 12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FF4D4D"/>
                </a:solidFill>
                <a:latin typeface="Arial"/>
                <a:ea typeface="Arial"/>
                <a:cs typeface="Arial"/>
                <a:sym typeface="Arial"/>
              </a:rPr>
              <a:t>Total Pending Fine: 450 tk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8892B0"/>
                </a:solidFill>
                <a:latin typeface="Arial"/>
                <a:ea typeface="Arial"/>
                <a:cs typeface="Arial"/>
                <a:sym typeface="Arial"/>
              </a:rPr>
              <a:t> Fine Collection: 1250 tk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3" name="Google Shape;37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4" name="Google Shape;37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6550" y="6238875"/>
            <a:ext cx="13144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Demo: Book Records</a:t>
            </a:r>
            <a:endParaRPr/>
          </a:p>
        </p:txBody>
      </p:sp>
      <p:sp>
        <p:nvSpPr>
          <p:cNvPr id="376" name="Google Shape;376;p31"/>
          <p:cNvSpPr/>
          <p:nvPr/>
        </p:nvSpPr>
        <p:spPr>
          <a:xfrm>
            <a:off x="571500" y="571500"/>
            <a:ext cx="47625" cy="46092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7" name="Google Shape;377;p31"/>
          <p:cNvGraphicFramePr/>
          <p:nvPr/>
        </p:nvGraphicFramePr>
        <p:xfrm>
          <a:off x="571500" y="29688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{97F74035-E69C-45C6-9FD4-DB92943C1CCE}</a:tableStyleId>
              </a:tblPr>
              <a:tblGrid>
                <a:gridCol w="1277250"/>
                <a:gridCol w="5002850"/>
                <a:gridCol w="2661050"/>
                <a:gridCol w="2107850"/>
              </a:tblGrid>
              <a:tr h="4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64FFD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64FFD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Title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64FFD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Author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64FFD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Available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</a:tr>
              <a:tr h="4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CD6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CD6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Structures in 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CD6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Tenenbaum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CD6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5/5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CD6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CD6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Modern Operating Systems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CD6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Tanenbaum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CD6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2/3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CD6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CD6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Digital Logic Design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CD6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Morris Mano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CD6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0/4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8" name="Google Shape;378;p31"/>
          <p:cNvSpPr/>
          <p:nvPr/>
        </p:nvSpPr>
        <p:spPr>
          <a:xfrm>
            <a:off x="571500" y="3435548"/>
            <a:ext cx="1277242" cy="190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1"/>
          <p:cNvSpPr/>
          <p:nvPr/>
        </p:nvSpPr>
        <p:spPr>
          <a:xfrm>
            <a:off x="1848742" y="3435548"/>
            <a:ext cx="5002857" cy="190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1"/>
          <p:cNvSpPr/>
          <p:nvPr/>
        </p:nvSpPr>
        <p:spPr>
          <a:xfrm>
            <a:off x="6851600" y="3435548"/>
            <a:ext cx="2661046" cy="190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1"/>
          <p:cNvSpPr/>
          <p:nvPr/>
        </p:nvSpPr>
        <p:spPr>
          <a:xfrm>
            <a:off x="9512647" y="3435548"/>
            <a:ext cx="2107852" cy="190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1"/>
          <p:cNvSpPr/>
          <p:nvPr/>
        </p:nvSpPr>
        <p:spPr>
          <a:xfrm>
            <a:off x="571500" y="3935610"/>
            <a:ext cx="127724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1"/>
          <p:cNvSpPr/>
          <p:nvPr/>
        </p:nvSpPr>
        <p:spPr>
          <a:xfrm>
            <a:off x="1848742" y="3935610"/>
            <a:ext cx="500285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1"/>
          <p:cNvSpPr/>
          <p:nvPr/>
        </p:nvSpPr>
        <p:spPr>
          <a:xfrm>
            <a:off x="6851600" y="3935610"/>
            <a:ext cx="266104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1"/>
          <p:cNvSpPr/>
          <p:nvPr/>
        </p:nvSpPr>
        <p:spPr>
          <a:xfrm>
            <a:off x="9512647" y="3935610"/>
            <a:ext cx="210785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1"/>
          <p:cNvSpPr/>
          <p:nvPr/>
        </p:nvSpPr>
        <p:spPr>
          <a:xfrm>
            <a:off x="571500" y="4421385"/>
            <a:ext cx="127724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1"/>
          <p:cNvSpPr/>
          <p:nvPr/>
        </p:nvSpPr>
        <p:spPr>
          <a:xfrm>
            <a:off x="1848742" y="4421385"/>
            <a:ext cx="500285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1"/>
          <p:cNvSpPr/>
          <p:nvPr/>
        </p:nvSpPr>
        <p:spPr>
          <a:xfrm>
            <a:off x="6851600" y="4421385"/>
            <a:ext cx="266104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1"/>
          <p:cNvSpPr/>
          <p:nvPr/>
        </p:nvSpPr>
        <p:spPr>
          <a:xfrm>
            <a:off x="9512647" y="4421385"/>
            <a:ext cx="210785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1"/>
          <p:cNvSpPr/>
          <p:nvPr/>
        </p:nvSpPr>
        <p:spPr>
          <a:xfrm>
            <a:off x="571500" y="4907160"/>
            <a:ext cx="127724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1"/>
          <p:cNvSpPr/>
          <p:nvPr/>
        </p:nvSpPr>
        <p:spPr>
          <a:xfrm>
            <a:off x="1848742" y="4907160"/>
            <a:ext cx="500285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1"/>
          <p:cNvSpPr/>
          <p:nvPr/>
        </p:nvSpPr>
        <p:spPr>
          <a:xfrm>
            <a:off x="6851600" y="4907160"/>
            <a:ext cx="266104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1"/>
          <p:cNvSpPr/>
          <p:nvPr/>
        </p:nvSpPr>
        <p:spPr>
          <a:xfrm>
            <a:off x="9512647" y="4907160"/>
            <a:ext cx="210785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8" name="Google Shape;39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9" name="Google Shape;39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6550" y="6238875"/>
            <a:ext cx="13144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0" name="Google Shape;400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06030"/>
            <a:ext cx="11049000" cy="168771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2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Demo: Issue &amp; Fine Logs</a:t>
            </a:r>
            <a:endParaRPr/>
          </a:p>
        </p:txBody>
      </p:sp>
      <p:sp>
        <p:nvSpPr>
          <p:cNvPr id="402" name="Google Shape;402;p32"/>
          <p:cNvSpPr/>
          <p:nvPr/>
        </p:nvSpPr>
        <p:spPr>
          <a:xfrm>
            <a:off x="571500" y="571500"/>
            <a:ext cx="47625" cy="46092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2"/>
          <p:cNvSpPr txBox="1"/>
          <p:nvPr/>
        </p:nvSpPr>
        <p:spPr>
          <a:xfrm>
            <a:off x="857250" y="3291780"/>
            <a:ext cx="104775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Arial"/>
                <a:ea typeface="Arial"/>
                <a:cs typeface="Arial"/>
                <a:sym typeface="Arial"/>
              </a:rPr>
              <a:t>Book ID: 101 | Title: Data Structures | User: 251-15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8892B0"/>
                </a:solidFill>
                <a:latin typeface="Arial"/>
                <a:ea typeface="Arial"/>
                <a:cs typeface="Arial"/>
                <a:sym typeface="Arial"/>
              </a:rPr>
              <a:t> Issue: 10/05/2024 | Return: Not Returned | Fine: 0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404" name="Google Shape;404;p32"/>
          <p:cNvSpPr/>
          <p:nvPr/>
        </p:nvSpPr>
        <p:spPr>
          <a:xfrm>
            <a:off x="857250" y="3874591"/>
            <a:ext cx="104775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2"/>
          <p:cNvSpPr txBox="1"/>
          <p:nvPr/>
        </p:nvSpPr>
        <p:spPr>
          <a:xfrm>
            <a:off x="3848100" y="4179391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4D4D"/>
                </a:solidFill>
                <a:latin typeface="Inter"/>
                <a:ea typeface="Inter"/>
                <a:cs typeface="Inter"/>
                <a:sym typeface="Inter"/>
              </a:rPr>
              <a:t>Fine: 35 tk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0" name="Google Shape;41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1" name="Google Shape;41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6550" y="6238875"/>
            <a:ext cx="13144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23269"/>
            <a:ext cx="3492400" cy="20532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3" name="Google Shape;413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9650" y="2823269"/>
            <a:ext cx="3492549" cy="20532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4" name="Google Shape;414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7950" y="2823269"/>
            <a:ext cx="3492400" cy="2053232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3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Technical Challenges</a:t>
            </a:r>
            <a:endParaRPr/>
          </a:p>
        </p:txBody>
      </p:sp>
      <p:sp>
        <p:nvSpPr>
          <p:cNvPr id="416" name="Google Shape;416;p33"/>
          <p:cNvSpPr/>
          <p:nvPr/>
        </p:nvSpPr>
        <p:spPr>
          <a:xfrm>
            <a:off x="571500" y="571500"/>
            <a:ext cx="47625" cy="46092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3"/>
          <p:cNvSpPr txBox="1"/>
          <p:nvPr/>
        </p:nvSpPr>
        <p:spPr>
          <a:xfrm>
            <a:off x="857250" y="3109019"/>
            <a:ext cx="306694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Pointer Management</a:t>
            </a:r>
            <a:endParaRPr/>
          </a:p>
        </p:txBody>
      </p:sp>
      <p:sp>
        <p:nvSpPr>
          <p:cNvPr id="418" name="Google Shape;418;p33"/>
          <p:cNvSpPr txBox="1"/>
          <p:nvPr/>
        </p:nvSpPr>
        <p:spPr>
          <a:xfrm>
            <a:off x="857250" y="3547169"/>
            <a:ext cx="29209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Handling "Segmentation Faults" when accessing NULL pointers in empty lists.</a:t>
            </a:r>
            <a:endParaRPr/>
          </a:p>
        </p:txBody>
      </p:sp>
      <p:sp>
        <p:nvSpPr>
          <p:cNvPr id="419" name="Google Shape;419;p33"/>
          <p:cNvSpPr txBox="1"/>
          <p:nvPr/>
        </p:nvSpPr>
        <p:spPr>
          <a:xfrm>
            <a:off x="4635400" y="3109019"/>
            <a:ext cx="306710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Date Arithmetic</a:t>
            </a:r>
            <a:endParaRPr/>
          </a:p>
        </p:txBody>
      </p:sp>
      <p:sp>
        <p:nvSpPr>
          <p:cNvPr id="420" name="Google Shape;420;p33"/>
          <p:cNvSpPr txBox="1"/>
          <p:nvPr/>
        </p:nvSpPr>
        <p:spPr>
          <a:xfrm>
            <a:off x="4635400" y="3547169"/>
            <a:ext cx="2921049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Syncing system time with manual inputs for accurate fine calculation.</a:t>
            </a:r>
            <a:endParaRPr/>
          </a:p>
        </p:txBody>
      </p:sp>
      <p:sp>
        <p:nvSpPr>
          <p:cNvPr id="421" name="Google Shape;421;p33"/>
          <p:cNvSpPr txBox="1"/>
          <p:nvPr/>
        </p:nvSpPr>
        <p:spPr>
          <a:xfrm>
            <a:off x="8413700" y="3109019"/>
            <a:ext cx="306694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File Integrity</a:t>
            </a:r>
            <a:endParaRPr/>
          </a:p>
        </p:txBody>
      </p:sp>
      <p:sp>
        <p:nvSpPr>
          <p:cNvPr id="422" name="Google Shape;422;p33"/>
          <p:cNvSpPr txBox="1"/>
          <p:nvPr/>
        </p:nvSpPr>
        <p:spPr>
          <a:xfrm>
            <a:off x="8413700" y="3547169"/>
            <a:ext cx="29209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Ensuring binary data doesn't corrupt when the program is force-closed.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7" name="Google Shape;42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8" name="Google Shape;42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6550" y="6238875"/>
            <a:ext cx="13144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4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Current Limitations</a:t>
            </a:r>
            <a:endParaRPr/>
          </a:p>
        </p:txBody>
      </p:sp>
      <p:sp>
        <p:nvSpPr>
          <p:cNvPr id="430" name="Google Shape;430;p34"/>
          <p:cNvSpPr/>
          <p:nvPr/>
        </p:nvSpPr>
        <p:spPr>
          <a:xfrm>
            <a:off x="571500" y="571500"/>
            <a:ext cx="47625" cy="46092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4"/>
          <p:cNvSpPr txBox="1"/>
          <p:nvPr/>
        </p:nvSpPr>
        <p:spPr>
          <a:xfrm>
            <a:off x="838200" y="3348097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32" name="Google Shape;432;p34"/>
          <p:cNvSpPr txBox="1"/>
          <p:nvPr/>
        </p:nvSpPr>
        <p:spPr>
          <a:xfrm>
            <a:off x="952500" y="3347144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Single User: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No multi-threaded support for concurrent admin access.</a:t>
            </a:r>
            <a:endParaRPr/>
          </a:p>
        </p:txBody>
      </p:sp>
      <p:sp>
        <p:nvSpPr>
          <p:cNvPr id="433" name="Google Shape;433;p34"/>
          <p:cNvSpPr txBox="1"/>
          <p:nvPr/>
        </p:nvSpPr>
        <p:spPr>
          <a:xfrm>
            <a:off x="838200" y="3683257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34" name="Google Shape;434;p34"/>
          <p:cNvSpPr txBox="1"/>
          <p:nvPr/>
        </p:nvSpPr>
        <p:spPr>
          <a:xfrm>
            <a:off x="952500" y="3682305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CLI Based: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Lack of a graphical user interface (GUI).</a:t>
            </a:r>
            <a:endParaRPr/>
          </a:p>
        </p:txBody>
      </p:sp>
      <p:sp>
        <p:nvSpPr>
          <p:cNvPr id="435" name="Google Shape;435;p34"/>
          <p:cNvSpPr txBox="1"/>
          <p:nvPr/>
        </p:nvSpPr>
        <p:spPr>
          <a:xfrm>
            <a:off x="838200" y="4018418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36" name="Google Shape;436;p34"/>
          <p:cNvSpPr txBox="1"/>
          <p:nvPr/>
        </p:nvSpPr>
        <p:spPr>
          <a:xfrm>
            <a:off x="952500" y="4017466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Linear Search: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O(n) complexity might slow down with millions of records.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1" name="Google Shape;44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2" name="Google Shape;44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6550" y="6238875"/>
            <a:ext cx="13144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3" name="Google Shape;443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70869"/>
            <a:ext cx="3492400" cy="2358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4" name="Google Shape;444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9650" y="2670869"/>
            <a:ext cx="3492549" cy="2358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5" name="Google Shape;445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27950" y="2670869"/>
            <a:ext cx="3492400" cy="2358032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5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Future Roadmap</a:t>
            </a:r>
            <a:endParaRPr/>
          </a:p>
        </p:txBody>
      </p:sp>
      <p:sp>
        <p:nvSpPr>
          <p:cNvPr id="447" name="Google Shape;447;p35"/>
          <p:cNvSpPr/>
          <p:nvPr/>
        </p:nvSpPr>
        <p:spPr>
          <a:xfrm>
            <a:off x="571500" y="571500"/>
            <a:ext cx="47625" cy="46092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48" name="Google Shape;448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7250" y="2956619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35"/>
          <p:cNvSpPr txBox="1"/>
          <p:nvPr/>
        </p:nvSpPr>
        <p:spPr>
          <a:xfrm>
            <a:off x="857250" y="3261419"/>
            <a:ext cx="306694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Encryption</a:t>
            </a:r>
            <a:endParaRPr/>
          </a:p>
        </p:txBody>
      </p:sp>
      <p:sp>
        <p:nvSpPr>
          <p:cNvPr id="450" name="Google Shape;450;p35"/>
          <p:cNvSpPr txBox="1"/>
          <p:nvPr/>
        </p:nvSpPr>
        <p:spPr>
          <a:xfrm>
            <a:off x="857250" y="3699569"/>
            <a:ext cx="29209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Encrypting .dat files to prevent unauthorized data tampering.</a:t>
            </a:r>
            <a:endParaRPr/>
          </a:p>
        </p:txBody>
      </p:sp>
      <p:pic>
        <p:nvPicPr>
          <p:cNvPr descr="image.png" id="451" name="Google Shape;451;p3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35400" y="2956619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35"/>
          <p:cNvSpPr txBox="1"/>
          <p:nvPr/>
        </p:nvSpPr>
        <p:spPr>
          <a:xfrm>
            <a:off x="4635400" y="3261419"/>
            <a:ext cx="306710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Analytics</a:t>
            </a:r>
            <a:endParaRPr/>
          </a:p>
        </p:txBody>
      </p:sp>
      <p:sp>
        <p:nvSpPr>
          <p:cNvPr id="453" name="Google Shape;453;p35"/>
          <p:cNvSpPr txBox="1"/>
          <p:nvPr/>
        </p:nvSpPr>
        <p:spPr>
          <a:xfrm>
            <a:off x="4635400" y="3699569"/>
            <a:ext cx="2921049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Graphing book popularity trends over time.</a:t>
            </a:r>
            <a:endParaRPr/>
          </a:p>
        </p:txBody>
      </p:sp>
      <p:pic>
        <p:nvPicPr>
          <p:cNvPr descr="image.png" id="454" name="Google Shape;454;p3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13700" y="2956619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5"/>
          <p:cNvSpPr txBox="1"/>
          <p:nvPr/>
        </p:nvSpPr>
        <p:spPr>
          <a:xfrm>
            <a:off x="8413700" y="3261419"/>
            <a:ext cx="306694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GUI Support</a:t>
            </a:r>
            <a:endParaRPr/>
          </a:p>
        </p:txBody>
      </p:sp>
      <p:sp>
        <p:nvSpPr>
          <p:cNvPr id="456" name="Google Shape;456;p35"/>
          <p:cNvSpPr txBox="1"/>
          <p:nvPr/>
        </p:nvSpPr>
        <p:spPr>
          <a:xfrm>
            <a:off x="8413700" y="3699569"/>
            <a:ext cx="29209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Building a wrapper using C++ Qt or Python Tkinter.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1" name="Google Shape;46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2" name="Google Shape;46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6550" y="6238875"/>
            <a:ext cx="13144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36"/>
          <p:cNvSpPr txBox="1"/>
          <p:nvPr/>
        </p:nvSpPr>
        <p:spPr>
          <a:xfrm>
            <a:off x="762000" y="571500"/>
            <a:ext cx="11401425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Conclusion</a:t>
            </a:r>
            <a:endParaRPr/>
          </a:p>
        </p:txBody>
      </p:sp>
      <p:sp>
        <p:nvSpPr>
          <p:cNvPr id="464" name="Google Shape;464;p36"/>
          <p:cNvSpPr/>
          <p:nvPr/>
        </p:nvSpPr>
        <p:spPr>
          <a:xfrm>
            <a:off x="571500" y="571500"/>
            <a:ext cx="47625" cy="46092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6"/>
          <p:cNvSpPr txBox="1"/>
          <p:nvPr/>
        </p:nvSpPr>
        <p:spPr>
          <a:xfrm>
            <a:off x="571500" y="3112740"/>
            <a:ext cx="1104900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This project successfully demonstrates the power of </a:t>
            </a:r>
            <a:r>
              <a:rPr b="1" i="0" lang="en-US" sz="21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Dynamic Memory Allocation</a:t>
            </a:r>
            <a:r>
              <a:rPr b="0" i="0" lang="en-US" sz="21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i="0" lang="en-US" sz="21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Custom Data Structures</a:t>
            </a:r>
            <a:r>
              <a:rPr b="0" i="0" lang="en-US" sz="21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466" name="Google Shape;466;p36"/>
          <p:cNvSpPr txBox="1"/>
          <p:nvPr/>
        </p:nvSpPr>
        <p:spPr>
          <a:xfrm>
            <a:off x="571500" y="4251870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We built a bridge between academic DS concepts and real-world application logic.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1" name="Google Shape;47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2" name="Google Shape;47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6550" y="6238875"/>
            <a:ext cx="13144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37"/>
          <p:cNvSpPr txBox="1"/>
          <p:nvPr/>
        </p:nvSpPr>
        <p:spPr>
          <a:xfrm>
            <a:off x="295275" y="2030908"/>
            <a:ext cx="1160145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</a:t>
            </a:r>
            <a:r>
              <a:rPr b="1" i="0" lang="en-US" sz="6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You</a:t>
            </a:r>
            <a:endParaRPr/>
          </a:p>
        </p:txBody>
      </p:sp>
      <p:sp>
        <p:nvSpPr>
          <p:cNvPr id="474" name="Google Shape;474;p37"/>
          <p:cNvSpPr txBox="1"/>
          <p:nvPr/>
        </p:nvSpPr>
        <p:spPr>
          <a:xfrm>
            <a:off x="571500" y="3192958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Questions &amp; Discussion</a:t>
            </a:r>
            <a:endParaRPr/>
          </a:p>
        </p:txBody>
      </p:sp>
      <p:sp>
        <p:nvSpPr>
          <p:cNvPr id="475" name="Google Shape;475;p37"/>
          <p:cNvSpPr txBox="1"/>
          <p:nvPr/>
        </p:nvSpPr>
        <p:spPr>
          <a:xfrm>
            <a:off x="571500" y="4156769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Team Members:</a:t>
            </a: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[Names Here]</a:t>
            </a:r>
            <a:endParaRPr/>
          </a:p>
        </p:txBody>
      </p:sp>
      <p:sp>
        <p:nvSpPr>
          <p:cNvPr id="476" name="Google Shape;476;p37"/>
          <p:cNvSpPr txBox="1"/>
          <p:nvPr/>
        </p:nvSpPr>
        <p:spPr>
          <a:xfrm>
            <a:off x="571500" y="4491930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Computer Science &amp; Engineering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