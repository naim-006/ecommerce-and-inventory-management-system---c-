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hyperlink" Target="https://github.com/Naim-006/Ecommerce-and-inventory-management-system---c-" TargetMode="External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0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hyperlink" Target="https://github.com/Naim-006/Ecommerce-and-inventory-management-system---c-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22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24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976D2">
                  <a:alpha val="92000"/>
                </a:srgbClr>
              </a:gs>
              <a:gs pos="100000">
                <a:srgbClr val="0D47A1">
                  <a:alpha val="9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33" y="952499"/>
            <a:ext cx="2857428" cy="400050"/>
          </a:xfrm>
          <a:prstGeom prst="roundRect">
            <a:avLst>
              <a:gd name="adj" fmla="val 47614285"/>
            </a:avLst>
          </a:prstGeom>
          <a:solidFill>
            <a:srgbClr val="FFFFFF">
              <a:alpha val="2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6753" y="1057275"/>
            <a:ext cx="245738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Poppins"/>
              </a:rPr>
              <a:t>CSE124: Data Structures Laboratory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1581149"/>
            <a:ext cx="7676958" cy="1381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040"/>
              </a:spcAft>
            </a:pPr>
            <a:r>
              <a:rPr sz="3468" b="1">
                <a:solidFill>
                  <a:srgbClr val="FFFFFF"/>
                </a:solidFill>
                <a:latin typeface="Poppins"/>
              </a:rPr>
              <a:t> E-Commerce &amp; Inventory</a:t>
            </a:r>
            <a:r>
              <a:rPr sz="1104"/>
              <a:t>
</a:t>
            </a:r>
            <a:r>
              <a:rPr sz="3468" b="1">
                <a:solidFill>
                  <a:srgbClr val="FFFFFF"/>
                </a:solidFill>
                <a:latin typeface="Poppins"/>
              </a:rPr>
              <a:t> Management System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114675"/>
            <a:ext cx="914377" cy="38100"/>
          </a:xfrm>
          <a:prstGeom prst="roundRect">
            <a:avLst>
              <a:gd name="adj" fmla="val 2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733" y="3381375"/>
            <a:ext cx="7676958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F3F4F6"/>
                </a:solidFill>
                <a:latin typeface="Poppins"/>
              </a:rPr>
              <a:t> A Console-Based Application Using C Programming Language</a:t>
            </a:r>
            <a:r>
              <a:rPr sz="1104"/>
              <a:t>
</a:t>
            </a:r>
            <a:r>
              <a:rPr sz="1196" b="0">
                <a:solidFill>
                  <a:srgbClr val="F3F4F6"/>
                </a:solidFill>
                <a:latin typeface="Poppins"/>
              </a:rPr>
              <a:t> Dual Portal Architecture with Customer &amp; Admin Features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444341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1525" y="4381499"/>
            <a:ext cx="11429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33" y="4762500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53" y="5379243"/>
            <a:ext cx="10667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NAIM HOSSAIN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2056" y="5381625"/>
            <a:ext cx="71435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252-15-178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1" y="6019798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79" y="6038849"/>
            <a:ext cx="122869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AYRIN ALOM 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8328" y="6038849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252-15-520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" y="5067299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79" y="5067299"/>
            <a:ext cx="16763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3F4F6"/>
                </a:solidFill>
                <a:latin typeface="Poppins"/>
              </a:rPr>
              <a:t>MD. AJMINE ADIL SADIK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5952" y="5086350"/>
            <a:ext cx="7048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252-15-172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2" y="5676898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79" y="5676899"/>
            <a:ext cx="10000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DIYA BIPASHA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140" y="5695950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Poppins"/>
              </a:rPr>
              <a:t>252-15-652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33" y="5372100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92" y="4750593"/>
            <a:ext cx="145728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TASNEEM BINTE AZIZ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2140" y="4772025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252-15-070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841" y="727742"/>
            <a:ext cx="285742" cy="2216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31632" y="4498159"/>
            <a:ext cx="1345176" cy="286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Poppins"/>
              </a:rPr>
              <a:t>Submitted 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5488" y="677281"/>
            <a:ext cx="2943150" cy="3225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  <a:latin typeface="Poppins"/>
              </a:rPr>
              <a:t>DAFFODIL INTERNATIONAL UNIVERSITY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BFE2E1F-81B7-4B7E-91CC-E1769C493598}"/>
              </a:ext>
            </a:extLst>
          </p:cNvPr>
          <p:cNvGrpSpPr/>
          <p:nvPr/>
        </p:nvGrpSpPr>
        <p:grpSpPr>
          <a:xfrm>
            <a:off x="7831632" y="4828987"/>
            <a:ext cx="2743542" cy="1500313"/>
            <a:chOff x="8724272" y="4930968"/>
            <a:chExt cx="2743542" cy="1500313"/>
          </a:xfrm>
        </p:grpSpPr>
        <p:sp>
          <p:nvSpPr>
            <p:cNvPr id="26" name="Rounded Rectangle 25"/>
            <p:cNvSpPr/>
            <p:nvPr/>
          </p:nvSpPr>
          <p:spPr>
            <a:xfrm>
              <a:off x="8724272" y="4930968"/>
              <a:ext cx="2267712" cy="1500313"/>
            </a:xfrm>
            <a:prstGeom prst="roundRect">
              <a:avLst>
                <a:gd name="adj" fmla="val 9600"/>
              </a:avLst>
            </a:prstGeom>
            <a:solidFill>
              <a:srgbClr val="FFFFFF">
                <a:alpha val="15000"/>
              </a:srgbClr>
            </a:solidFill>
            <a:ln w="825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2B78211-B238-4369-AAC3-8024BE4F224F}"/>
                </a:ext>
              </a:extLst>
            </p:cNvPr>
            <p:cNvGrpSpPr/>
            <p:nvPr/>
          </p:nvGrpSpPr>
          <p:grpSpPr>
            <a:xfrm>
              <a:off x="9143773" y="5143504"/>
              <a:ext cx="2324041" cy="747966"/>
              <a:chOff x="8905653" y="2038353"/>
              <a:chExt cx="2324041" cy="747966"/>
            </a:xfrm>
          </p:grpSpPr>
          <p:pic>
            <p:nvPicPr>
              <p:cNvPr id="30" name="Picture 29" descr="image.png"/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965283" y="2090737"/>
                <a:ext cx="133346" cy="101346"/>
              </a:xfrm>
              <a:prstGeom prst="rect">
                <a:avLst/>
              </a:prstGeom>
            </p:spPr>
          </p:pic>
          <p:sp>
            <p:nvSpPr>
              <p:cNvPr id="31" name="TextBox 30"/>
              <p:cNvSpPr txBox="1"/>
              <p:nvPr/>
            </p:nvSpPr>
            <p:spPr>
              <a:xfrm>
                <a:off x="9199027" y="2038353"/>
                <a:ext cx="695307" cy="1904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37" b="0" dirty="0">
                    <a:solidFill>
                      <a:srgbClr val="F3F4F6"/>
                    </a:solidFill>
                    <a:latin typeface="Poppins"/>
                  </a:rPr>
                  <a:t>Supervisor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905653" y="2324101"/>
                <a:ext cx="2324041" cy="228600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FFFFFF"/>
                    </a:solidFill>
                    <a:latin typeface="Poppins"/>
                  </a:rPr>
                  <a:t>MD. JAKARIA ZOBAIR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8905653" y="2595820"/>
                <a:ext cx="2324041" cy="1904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37" b="0" dirty="0">
                    <a:solidFill>
                      <a:srgbClr val="E5E7EB"/>
                    </a:solidFill>
                    <a:latin typeface="Poppins"/>
                  </a:rPr>
                  <a:t>Lecturer, Dept. of CSE</a:t>
                </a:r>
              </a:p>
            </p:txBody>
          </p:sp>
        </p:grpSp>
      </p:grpSp>
      <p:sp>
        <p:nvSpPr>
          <p:cNvPr id="40" name="Rounded Rectangle 39"/>
          <p:cNvSpPr/>
          <p:nvPr/>
        </p:nvSpPr>
        <p:spPr>
          <a:xfrm>
            <a:off x="8438938" y="3087622"/>
            <a:ext cx="1342991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80AF6A7-3C84-4545-B8DC-1ADE875C2ECB}"/>
              </a:ext>
            </a:extLst>
          </p:cNvPr>
          <p:cNvGrpSpPr/>
          <p:nvPr/>
        </p:nvGrpSpPr>
        <p:grpSpPr>
          <a:xfrm>
            <a:off x="8438939" y="2097022"/>
            <a:ext cx="2762180" cy="1752601"/>
            <a:chOff x="8762781" y="3743323"/>
            <a:chExt cx="2762180" cy="1752601"/>
          </a:xfrm>
        </p:grpSpPr>
        <p:sp>
          <p:nvSpPr>
            <p:cNvPr id="34" name="Rounded Rectangle 33"/>
            <p:cNvSpPr/>
            <p:nvPr/>
          </p:nvSpPr>
          <p:spPr>
            <a:xfrm>
              <a:off x="8762781" y="3743323"/>
              <a:ext cx="1342991" cy="876299"/>
            </a:xfrm>
            <a:prstGeom prst="roundRect">
              <a:avLst>
                <a:gd name="adj" fmla="val 1739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31366" y="3907047"/>
              <a:ext cx="729623" cy="39645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lang="en-US" sz="1794" b="1" dirty="0">
                  <a:solidFill>
                    <a:srgbClr val="42A5F5"/>
                  </a:solidFill>
                  <a:latin typeface="Poppins"/>
                </a:rPr>
                <a:t>2050</a:t>
              </a:r>
              <a:endParaRPr sz="1794" b="1" dirty="0">
                <a:solidFill>
                  <a:srgbClr val="42A5F5"/>
                </a:solidFill>
                <a:latin typeface="Poppin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877078" y="43148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 dirty="0">
                  <a:solidFill>
                    <a:srgbClr val="FFFFFF"/>
                  </a:solidFill>
                  <a:latin typeface="Poppins"/>
                </a:rPr>
                <a:t>Lines of Code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181970" y="3781424"/>
              <a:ext cx="1342991" cy="876299"/>
            </a:xfrm>
            <a:prstGeom prst="roundRect">
              <a:avLst>
                <a:gd name="adj" fmla="val 1739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334366" y="3933824"/>
              <a:ext cx="1038199" cy="3429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sz="1794" b="1">
                  <a:solidFill>
                    <a:srgbClr val="42A5F5"/>
                  </a:solidFill>
                  <a:latin typeface="Poppin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334366" y="43148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FFFFFF"/>
                  </a:solidFill>
                  <a:latin typeface="Poppins"/>
                </a:rPr>
                <a:t>Portals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877078" y="4924424"/>
              <a:ext cx="1038199" cy="3429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sz="1794" b="1" dirty="0">
                  <a:solidFill>
                    <a:srgbClr val="42A5F5"/>
                  </a:solidFill>
                  <a:latin typeface="Poppins"/>
                </a:rPr>
                <a:t>20+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77078" y="53054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FFFFFF"/>
                  </a:solidFill>
                  <a:latin typeface="Poppins"/>
                </a:rPr>
                <a:t>Functions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F865CF7-A71C-4644-8DC4-35858973D9CC}"/>
              </a:ext>
            </a:extLst>
          </p:cNvPr>
          <p:cNvSpPr txBox="1"/>
          <p:nvPr/>
        </p:nvSpPr>
        <p:spPr>
          <a:xfrm>
            <a:off x="11630025" y="153975"/>
            <a:ext cx="914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14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621966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Introduction &amp;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381124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333500"/>
            <a:ext cx="344796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Background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1847849"/>
            <a:ext cx="5829154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Poppins"/>
              </a:rPr>
              <a:t> Console-based application in C to streamline </a:t>
            </a:r>
            <a:r>
              <a:rPr sz="1196" b="1">
                <a:solidFill>
                  <a:srgbClr val="1976D2"/>
                </a:solidFill>
                <a:latin typeface="Poppins"/>
              </a:rPr>
              <a:t>product management, order processing, and customer interactions</a:t>
            </a:r>
            <a:r>
              <a:rPr sz="1196" b="0">
                <a:solidFill>
                  <a:srgbClr val="4B5563"/>
                </a:solidFill>
                <a:latin typeface="Poppins"/>
              </a:rPr>
              <a:t> for small to medium-sized retail businesses.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33" y="31242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129" y="3086100"/>
            <a:ext cx="200019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Key Objectives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369065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22" y="3638550"/>
            <a:ext cx="208592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Dual-portal architecture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36906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57548" y="3638550"/>
            <a:ext cx="234309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Linked-list-based inventory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405260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22" y="4000500"/>
            <a:ext cx="187637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Shopping cart system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40526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57548" y="4000500"/>
            <a:ext cx="18097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Order status tracking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44336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81499"/>
            <a:ext cx="227641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OTP-based authentication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44336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57548" y="4381499"/>
            <a:ext cx="240976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File-based data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017" y="1476375"/>
            <a:ext cx="4209944" cy="4857750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1651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7593" y="1759194"/>
            <a:ext cx="304792" cy="2344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62660" y="2171700"/>
            <a:ext cx="371465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Poppins"/>
              </a:rPr>
              <a:t>System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2660" y="2705099"/>
            <a:ext cx="3714657" cy="8762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1976D2"/>
              </a:gs>
              <a:gs pos="100000">
                <a:srgbClr val="42A5F5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15057" y="2857500"/>
            <a:ext cx="3409864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E-Commerce &amp; Inventory Management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62660" y="3733799"/>
            <a:ext cx="1800179" cy="1847849"/>
          </a:xfrm>
          <a:prstGeom prst="roundRect">
            <a:avLst>
              <a:gd name="adj" fmla="val 8465"/>
            </a:avLst>
          </a:prstGeom>
          <a:solidFill>
            <a:srgbClr val="EFF6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4641" y="3925542"/>
            <a:ext cx="266693" cy="226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34106" y="4314825"/>
            <a:ext cx="145728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Customer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4106" y="461009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Browse &amp; Buy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4106" y="4810124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Cart &amp; 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4106" y="501014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Order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77138" y="3733799"/>
            <a:ext cx="1800179" cy="1847849"/>
          </a:xfrm>
          <a:prstGeom prst="roundRect">
            <a:avLst>
              <a:gd name="adj" fmla="val 8465"/>
            </a:avLst>
          </a:prstGeom>
          <a:solidFill>
            <a:srgbClr val="EFF6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48643" y="3934239"/>
            <a:ext cx="266693" cy="20872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48583" y="4314825"/>
            <a:ext cx="145728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Admin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8583" y="4610099"/>
            <a:ext cx="1457288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Product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8583" y="501014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Order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583" y="5210174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Inventory 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62660" y="5734050"/>
            <a:ext cx="1819229" cy="352424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38859" y="5810249"/>
            <a:ext cx="166683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Poppins"/>
              </a:rPr>
              <a:t>CRUD Operations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58088" y="5734050"/>
            <a:ext cx="1819229" cy="352424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34286" y="5810249"/>
            <a:ext cx="166683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Poppins"/>
              </a:rPr>
              <a:t>Secure Authentication</a:t>
            </a:r>
          </a:p>
        </p:txBody>
      </p: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CB907C0C-772A-4C3D-85F5-555DBAB80CAE}"/>
              </a:ext>
            </a:extLst>
          </p:cNvPr>
          <p:cNvSpPr/>
          <p:nvPr/>
        </p:nvSpPr>
        <p:spPr>
          <a:xfrm>
            <a:off x="7745437" y="341573"/>
            <a:ext cx="2571685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79DB7F-0253-48C3-A929-95FE6B882C61}"/>
              </a:ext>
            </a:extLst>
          </p:cNvPr>
          <p:cNvSpPr txBox="1"/>
          <p:nvPr/>
        </p:nvSpPr>
        <p:spPr>
          <a:xfrm>
            <a:off x="8174067" y="367756"/>
            <a:ext cx="2141868" cy="2989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Poppins"/>
              </a:rPr>
              <a:t>Presented by 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Tasneem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Binte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Aziz</a:t>
            </a:r>
            <a:endParaRPr sz="956" b="0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64A44F-E207-428A-922E-44A68092BDAF}"/>
              </a:ext>
            </a:extLst>
          </p:cNvPr>
          <p:cNvSpPr txBox="1"/>
          <p:nvPr/>
        </p:nvSpPr>
        <p:spPr>
          <a:xfrm>
            <a:off x="11630025" y="153975"/>
            <a:ext cx="914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4322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882945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Requirement Analysis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6382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590675"/>
            <a:ext cx="28383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Core Data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29" y="2105024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642282" y="2281871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25" y="22459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2219324"/>
            <a:ext cx="68578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8299" y="2228850"/>
            <a:ext cx="281932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ID, Name, Quantity, Price,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2667000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42282" y="2843847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525" y="281749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6318" y="2781300"/>
            <a:ext cx="49528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803" y="2800350"/>
            <a:ext cx="220974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ID, Customer, Status,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29" y="3228975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642282" y="3405822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25" y="3374231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6318" y="3343275"/>
            <a:ext cx="89532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OrderItem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7843" y="3352800"/>
            <a:ext cx="262883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ProductID, Name, Quantity,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129" y="3790949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42282" y="3967796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3950017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76318" y="3905249"/>
            <a:ext cx="58101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3526" y="3924299"/>
            <a:ext cx="134299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OutletID, Phone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733" y="459105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129" y="4543425"/>
            <a:ext cx="211449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Storage Format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129" y="5057775"/>
            <a:ext cx="4609984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525" y="5243232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8219" y="5210174"/>
            <a:ext cx="190495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Pipe-Delimited Text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525" y="5514975"/>
            <a:ext cx="4305192" cy="552450"/>
          </a:xfrm>
          <a:prstGeom prst="roundRect">
            <a:avLst>
              <a:gd name="adj" fmla="val 13793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1525" y="5514975"/>
            <a:ext cx="4305192" cy="5524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SFMono-Regular"/>
              </a:rPr>
              <a:t> store_data.txt → Products &amp; Orders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  <a:latin typeface="SFMono-Regular"/>
              </a:rPr>
              <a:t> admin_data.txt → Credentials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5847" y="20192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48243" y="1962149"/>
            <a:ext cx="366703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Admin Authentication 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8243" y="2476499"/>
            <a:ext cx="5276718" cy="1504950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639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2085" y="2820642"/>
            <a:ext cx="266693" cy="2261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00639" y="3314700"/>
            <a:ext cx="60958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Outlet ID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1710" y="2993707"/>
            <a:ext cx="228594" cy="16573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381790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53236" y="2820642"/>
            <a:ext cx="266693" cy="22611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81790" y="3314700"/>
            <a:ext cx="92390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Generate OTP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86702" y="2993707"/>
            <a:ext cx="228594" cy="16573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0686782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858228" y="2809046"/>
            <a:ext cx="266693" cy="24930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686782" y="3314700"/>
            <a:ext cx="68578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Verify OTP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639" y="3638550"/>
            <a:ext cx="497192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78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Poppins"/>
              </a:rPr>
              <a:t> 3-attempt limit before access denial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72185" y="3669846"/>
            <a:ext cx="152396" cy="146957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095847" y="43053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48243" y="4248150"/>
            <a:ext cx="200972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Order Lifecycle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8243" y="4762500"/>
            <a:ext cx="5276718" cy="1076325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400639" y="4914900"/>
            <a:ext cx="866753" cy="380999"/>
          </a:xfrm>
          <a:prstGeom prst="roundRect">
            <a:avLst>
              <a:gd name="adj" fmla="val 4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14937" y="4991100"/>
            <a:ext cx="63815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A16207"/>
                </a:solidFill>
                <a:latin typeface="Poppins"/>
              </a:rPr>
              <a:t>Pending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3116" y="5060632"/>
            <a:ext cx="228594" cy="165734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7667433" y="4914900"/>
            <a:ext cx="1076298" cy="3809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730" y="4991100"/>
            <a:ext cx="84770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D4ED8"/>
                </a:solidFill>
                <a:latin typeface="Poppins"/>
              </a:rPr>
              <a:t>Processing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29454" y="5060632"/>
            <a:ext cx="228594" cy="165734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9143771" y="4914900"/>
            <a:ext cx="866753" cy="380999"/>
          </a:xfrm>
          <a:prstGeom prst="roundRect">
            <a:avLst>
              <a:gd name="adj" fmla="val 4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58068" y="4991100"/>
            <a:ext cx="63815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7E22CE"/>
                </a:solidFill>
                <a:latin typeface="Poppins"/>
              </a:rPr>
              <a:t>Shipped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96247" y="5060632"/>
            <a:ext cx="228594" cy="165734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410564" y="4914900"/>
            <a:ext cx="962000" cy="380999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24861" y="4991100"/>
            <a:ext cx="73340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803D"/>
                </a:solidFill>
                <a:latin typeface="Poppins"/>
              </a:rPr>
              <a:t>Delivered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639" y="5486400"/>
            <a:ext cx="497192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78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Poppins"/>
              </a:rPr>
              <a:t> Cancellation possible at any non-terminal state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91195" y="5535385"/>
            <a:ext cx="152396" cy="13062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233748B-AFBD-4EF5-99A8-57889570DD83}"/>
              </a:ext>
            </a:extLst>
          </p:cNvPr>
          <p:cNvSpPr txBox="1"/>
          <p:nvPr/>
        </p:nvSpPr>
        <p:spPr>
          <a:xfrm>
            <a:off x="11630025" y="153975"/>
            <a:ext cx="914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14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659113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Implementation: Customer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81750" y="285750"/>
            <a:ext cx="2428814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89625" y="303985"/>
            <a:ext cx="2273315" cy="2989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Poppins"/>
              </a:rPr>
              <a:t>Presented by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Md.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Ajmine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Adil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Sadik</a:t>
            </a:r>
            <a:endParaRPr sz="956" b="0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29" y="1257300"/>
            <a:ext cx="287647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Browse &amp; Buy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29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8960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857375"/>
            <a:ext cx="128584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View All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805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102" y="1897436"/>
            <a:ext cx="190495" cy="1484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52796" y="1857375"/>
            <a:ext cx="204782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Search by Name/Category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33" y="245745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129" y="2428875"/>
            <a:ext cx="282885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Shopping Cart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29" y="2914650"/>
            <a:ext cx="2876478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31763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3028950"/>
            <a:ext cx="238119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Add Items with Stock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71805" y="2914650"/>
            <a:ext cx="2876478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6102" y="318191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52796" y="3143250"/>
            <a:ext cx="138109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Quantities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6766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426" y="3829610"/>
            <a:ext cx="190495" cy="1512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0119" y="3790949"/>
            <a:ext cx="10858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Remove 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1805" y="36766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6102" y="3829610"/>
            <a:ext cx="190495" cy="1512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52796" y="3790949"/>
            <a:ext cx="20859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Real-time Total Calculation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733" y="4391025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030" y="4362450"/>
            <a:ext cx="173350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Checkout 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030" y="4724399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4893128"/>
            <a:ext cx="152396" cy="8164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85822" y="4838699"/>
            <a:ext cx="159063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Order Summary Display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5140778"/>
            <a:ext cx="152396" cy="8164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85822" y="5076825"/>
            <a:ext cx="147633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Customer Information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5369378"/>
            <a:ext cx="152396" cy="8164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85822" y="5314950"/>
            <a:ext cx="1295367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Order Confirmation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33706" y="4391025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8003" y="4362450"/>
            <a:ext cx="144776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Order Tracking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8003" y="4724399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4893128"/>
            <a:ext cx="152396" cy="8164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152796" y="4838699"/>
            <a:ext cx="121916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View Order History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5140778"/>
            <a:ext cx="152396" cy="8164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52796" y="5076825"/>
            <a:ext cx="178113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Detailed Order Information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5369378"/>
            <a:ext cx="152396" cy="8164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52796" y="5314950"/>
            <a:ext cx="96200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Cancel Orders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33845" y="2379345"/>
            <a:ext cx="4209944" cy="1828800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linkClick r:id="rId10"/>
            </a:endParaRPr>
          </a:p>
          <a:p>
            <a:pPr algn="ctr"/>
            <a:r>
              <a:rPr lang="en-US" dirty="0">
                <a:hlinkClick r:id="rId10"/>
              </a:rPr>
              <a:t>https://github.com/Naim-006/Ecommerce-and-inventory-management-system---c-</a:t>
            </a:r>
            <a:endParaRPr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76938" y="2642234"/>
            <a:ext cx="228594" cy="1257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781730" y="2590799"/>
            <a:ext cx="158111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Key Implementation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10564" y="2571750"/>
            <a:ext cx="952476" cy="247649"/>
          </a:xfrm>
          <a:prstGeom prst="roundRect">
            <a:avLst>
              <a:gd name="adj" fmla="val 30769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10564" y="2571750"/>
            <a:ext cx="952476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 dirty="0" err="1">
                <a:solidFill>
                  <a:srgbClr val="FFFFFF"/>
                </a:solidFill>
                <a:latin typeface="Poppins"/>
              </a:rPr>
              <a:t>addToCart</a:t>
            </a:r>
            <a:r>
              <a:rPr sz="717" b="0" dirty="0">
                <a:solidFill>
                  <a:srgbClr val="FFFFFF"/>
                </a:solidFill>
                <a:latin typeface="Poppins"/>
              </a:rPr>
              <a:t>()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017" y="4400550"/>
            <a:ext cx="4209944" cy="100012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477038" y="4572000"/>
            <a:ext cx="1876378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629434" y="4659630"/>
            <a:ext cx="228594" cy="20573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934226" y="4648200"/>
            <a:ext cx="126679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Stock Validation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6462" y="5029200"/>
            <a:ext cx="386705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Real-time inventory check prevents overselling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2C7DE4-1A00-42B5-8081-E70FDE6D619C}"/>
              </a:ext>
            </a:extLst>
          </p:cNvPr>
          <p:cNvSpPr txBox="1"/>
          <p:nvPr/>
        </p:nvSpPr>
        <p:spPr>
          <a:xfrm>
            <a:off x="11630025" y="153975"/>
            <a:ext cx="914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4322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594345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Implementation: Admin Portal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574D244-747C-47B3-AE60-DDA92C4BE2EE}"/>
              </a:ext>
            </a:extLst>
          </p:cNvPr>
          <p:cNvGrpSpPr/>
          <p:nvPr/>
        </p:nvGrpSpPr>
        <p:grpSpPr>
          <a:xfrm>
            <a:off x="0" y="0"/>
            <a:ext cx="12191695" cy="952499"/>
            <a:chOff x="0" y="0"/>
            <a:chExt cx="12191695" cy="952499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952499"/>
            </a:xfrm>
            <a:prstGeom prst="rect">
              <a:avLst/>
            </a:prstGeom>
            <a:gradFill rotWithShape="1">
              <a:gsLst>
                <a:gs pos="0">
                  <a:srgbClr val="1976D2"/>
                </a:gs>
                <a:gs pos="100000">
                  <a:srgbClr val="1565C0"/>
                </a:gs>
              </a:gsLst>
              <a:lin ang="10800000" scaled="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745437" y="341573"/>
              <a:ext cx="2571685" cy="380999"/>
            </a:xfrm>
            <a:prstGeom prst="roundRect">
              <a:avLst>
                <a:gd name="adj" fmla="val 49995000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174067" y="367756"/>
              <a:ext cx="1821268" cy="29899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6" b="0" dirty="0">
                  <a:solidFill>
                    <a:srgbClr val="FFFFFF"/>
                  </a:solidFill>
                  <a:latin typeface="Poppins"/>
                </a:rPr>
                <a:t>Presented by </a:t>
              </a:r>
              <a:r>
                <a:rPr lang="en-US" sz="956" dirty="0" err="1">
                  <a:solidFill>
                    <a:srgbClr val="FFFFFF"/>
                  </a:solidFill>
                  <a:latin typeface="Poppins"/>
                </a:rPr>
                <a:t>Naim</a:t>
              </a:r>
              <a:r>
                <a:rPr lang="en-US" sz="956" dirty="0">
                  <a:solidFill>
                    <a:srgbClr val="FFFFFF"/>
                  </a:solidFill>
                  <a:latin typeface="Poppins"/>
                </a:rPr>
                <a:t> Hossain</a:t>
              </a:r>
              <a:endParaRPr sz="956" b="0" dirty="0">
                <a:solidFill>
                  <a:srgbClr val="FFFFFF"/>
                </a:solidFill>
                <a:latin typeface="Poppins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29" y="1257300"/>
            <a:ext cx="276218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Product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29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8960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857375"/>
            <a:ext cx="139061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Add New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805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102" y="1910042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52796" y="1857375"/>
            <a:ext cx="11048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View Inventory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129" y="2276474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2429435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0119" y="2390774"/>
            <a:ext cx="145728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Stock/Price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71805" y="2276474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6102" y="2429435"/>
            <a:ext cx="190495" cy="1512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52796" y="2390774"/>
            <a:ext cx="12001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Delete Products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733" y="29908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129" y="2962274"/>
            <a:ext cx="248596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Order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4480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426" y="3591205"/>
            <a:ext cx="190495" cy="17088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0119" y="3562349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Create Orders for Customers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1805" y="34480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6102" y="359540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52796" y="3562349"/>
            <a:ext cx="11334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View All 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129" y="39814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3426" y="4135811"/>
            <a:ext cx="190495" cy="1484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0119" y="4095749"/>
            <a:ext cx="20668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Search by Customer Name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71805" y="39814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86102" y="413441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52796" y="4095749"/>
            <a:ext cx="155253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Order 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6733" y="4695824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030" y="4667249"/>
            <a:ext cx="144776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Authentication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030" y="5029200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197928"/>
            <a:ext cx="152396" cy="8164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5822" y="5143500"/>
            <a:ext cx="135251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Outlet ID Verification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445578"/>
            <a:ext cx="152396" cy="8164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5822" y="5381624"/>
            <a:ext cx="152396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6-digit OTP Generation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674178"/>
            <a:ext cx="152396" cy="8164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5822" y="5619750"/>
            <a:ext cx="126679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3-attempt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33706" y="4695824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8003" y="4667249"/>
            <a:ext cx="16382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Data Persistence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8003" y="5029200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197928"/>
            <a:ext cx="152396" cy="8164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152796" y="5143500"/>
            <a:ext cx="127631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File-based Storage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445578"/>
            <a:ext cx="152396" cy="8164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152796" y="5381624"/>
            <a:ext cx="162873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Automatic Data Loading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674178"/>
            <a:ext cx="152396" cy="8164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52796" y="5619750"/>
            <a:ext cx="159063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Cross-platform Support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017" y="2314575"/>
            <a:ext cx="4209944" cy="1828800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linkClick r:id="rId12"/>
            </a:endParaRPr>
          </a:p>
          <a:p>
            <a:pPr algn="ctr"/>
            <a:r>
              <a:rPr lang="en-US" dirty="0">
                <a:hlinkClick r:id="rId12"/>
              </a:rPr>
              <a:t>https://github.com/Naim-006/Ecommerce-and-inventory-management-system---c-</a:t>
            </a:r>
            <a:endParaRPr dirty="0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76938" y="2537459"/>
            <a:ext cx="228594" cy="1257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781730" y="2486025"/>
            <a:ext cx="14477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Admin Verification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53416" y="2476499"/>
            <a:ext cx="1009624" cy="247649"/>
          </a:xfrm>
          <a:prstGeom prst="roundRect">
            <a:avLst>
              <a:gd name="adj" fmla="val 30769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53416" y="2476499"/>
            <a:ext cx="1009624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Poppins"/>
              </a:rPr>
              <a:t>verifyAdmin()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017" y="4295774"/>
            <a:ext cx="4209944" cy="12001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448463" y="4467224"/>
            <a:ext cx="1943051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600859" y="4560570"/>
            <a:ext cx="228594" cy="19430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905652" y="4543425"/>
            <a:ext cx="133346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CRUD Operations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6462" y="4924424"/>
            <a:ext cx="386705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Complete product lifecycle management with real-time updates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869E09-8497-4A3E-839B-5740E699530E}"/>
              </a:ext>
            </a:extLst>
          </p:cNvPr>
          <p:cNvSpPr txBox="1"/>
          <p:nvPr/>
        </p:nvSpPr>
        <p:spPr>
          <a:xfrm>
            <a:off x="1162020" y="190369"/>
            <a:ext cx="4937506" cy="5717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  <a:latin typeface="Poppins"/>
              </a:rPr>
              <a:t>Implementation: </a:t>
            </a:r>
            <a:r>
              <a:rPr lang="en-US" sz="2392" b="1" dirty="0">
                <a:solidFill>
                  <a:srgbClr val="FFFFFF"/>
                </a:solidFill>
                <a:latin typeface="Poppins"/>
              </a:rPr>
              <a:t>Admin</a:t>
            </a:r>
            <a:r>
              <a:rPr sz="2392" b="1" dirty="0">
                <a:solidFill>
                  <a:srgbClr val="FFFFFF"/>
                </a:solidFill>
                <a:latin typeface="Poppins"/>
              </a:rPr>
              <a:t> Portal</a:t>
            </a:r>
          </a:p>
        </p:txBody>
      </p:sp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898575E0-77B9-48BE-AE8F-D0373AA0E63A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28634" y="377058"/>
            <a:ext cx="342891" cy="28969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FEBBD72A-FD41-409C-8B22-AE17AE204760}"/>
              </a:ext>
            </a:extLst>
          </p:cNvPr>
          <p:cNvSpPr txBox="1"/>
          <p:nvPr/>
        </p:nvSpPr>
        <p:spPr>
          <a:xfrm>
            <a:off x="11630025" y="153975"/>
            <a:ext cx="914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55052"/>
            <a:ext cx="342891" cy="2423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781030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System Testing &amp; Performance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4668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428750"/>
            <a:ext cx="240976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Testing Approach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84F73E5-AFF1-46ED-826A-DAA3A9ACC47F}"/>
              </a:ext>
            </a:extLst>
          </p:cNvPr>
          <p:cNvGrpSpPr/>
          <p:nvPr/>
        </p:nvGrpSpPr>
        <p:grpSpPr>
          <a:xfrm>
            <a:off x="600061" y="2143124"/>
            <a:ext cx="4609984" cy="3200400"/>
            <a:chOff x="819129" y="3181349"/>
            <a:chExt cx="4609984" cy="3200400"/>
          </a:xfrm>
        </p:grpSpPr>
        <p:sp>
          <p:nvSpPr>
            <p:cNvPr id="14" name="Rounded Rectangle 13"/>
            <p:cNvSpPr/>
            <p:nvPr/>
          </p:nvSpPr>
          <p:spPr>
            <a:xfrm>
              <a:off x="819129" y="3181350"/>
              <a:ext cx="4609984" cy="1057275"/>
            </a:xfrm>
            <a:prstGeom prst="roundRect">
              <a:avLst>
                <a:gd name="adj" fmla="val 14414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 Same Side Corner Rectangle 14"/>
            <p:cNvSpPr/>
            <p:nvPr/>
          </p:nvSpPr>
          <p:spPr>
            <a:xfrm rot="16200000">
              <a:off x="356532" y="3643947"/>
              <a:ext cx="1057275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9624" y="3388042"/>
              <a:ext cx="228594" cy="17716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52516" y="3352800"/>
              <a:ext cx="1400139" cy="25717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7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1F2937"/>
                  </a:solidFill>
                  <a:latin typeface="Poppins"/>
                </a:rPr>
                <a:t>Input Validation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419489" y="3333749"/>
              <a:ext cx="857228" cy="276225"/>
            </a:xfrm>
            <a:prstGeom prst="roundRect">
              <a:avLst>
                <a:gd name="adj" fmla="val 68958620"/>
              </a:avLst>
            </a:prstGeom>
            <a:solidFill>
              <a:srgbClr val="DCFC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19489" y="3333749"/>
              <a:ext cx="857228" cy="2762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1">
                  <a:solidFill>
                    <a:srgbClr val="15803D"/>
                  </a:solidFill>
                  <a:latin typeface="Poppins"/>
                </a:rPr>
                <a:t>✓ Passed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52516" y="3695699"/>
              <a:ext cx="3924201" cy="400050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52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Non-numeric input, out-of-range values, malformed decimals, empty strings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9129" y="4362450"/>
              <a:ext cx="4609984" cy="1057275"/>
            </a:xfrm>
            <a:prstGeom prst="roundRect">
              <a:avLst>
                <a:gd name="adj" fmla="val 14414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 Same Side Corner Rectangle 21"/>
            <p:cNvSpPr/>
            <p:nvPr/>
          </p:nvSpPr>
          <p:spPr>
            <a:xfrm rot="16200000">
              <a:off x="356532" y="4825047"/>
              <a:ext cx="1057275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09624" y="4539615"/>
              <a:ext cx="228594" cy="21717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352516" y="4514850"/>
              <a:ext cx="1400139" cy="25717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7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1F2937"/>
                  </a:solidFill>
                  <a:latin typeface="Poppins"/>
                </a:rPr>
                <a:t>Security Testing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419489" y="4514850"/>
              <a:ext cx="857228" cy="276225"/>
            </a:xfrm>
            <a:prstGeom prst="roundRect">
              <a:avLst>
                <a:gd name="adj" fmla="val 68958620"/>
              </a:avLst>
            </a:prstGeom>
            <a:solidFill>
              <a:srgbClr val="DCFC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419489" y="4514850"/>
              <a:ext cx="857228" cy="2762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1">
                  <a:solidFill>
                    <a:srgbClr val="15803D"/>
                  </a:solidFill>
                  <a:latin typeface="Poppins"/>
                </a:rPr>
                <a:t>✓ Passed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352516" y="4857750"/>
              <a:ext cx="3924201" cy="400050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52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OTP attempt limits, invalid outlet ID rejection, access control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19129" y="5524499"/>
              <a:ext cx="4609984" cy="857250"/>
            </a:xfrm>
            <a:prstGeom prst="roundRect">
              <a:avLst>
                <a:gd name="adj" fmla="val 17777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 Same Side Corner Rectangle 28"/>
            <p:cNvSpPr/>
            <p:nvPr/>
          </p:nvSpPr>
          <p:spPr>
            <a:xfrm rot="16200000">
              <a:off x="456544" y="5887084"/>
              <a:ext cx="857250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09624" y="5731192"/>
              <a:ext cx="228594" cy="177164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352516" y="5695949"/>
              <a:ext cx="1009624" cy="25717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7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1F2937"/>
                  </a:solidFill>
                  <a:latin typeface="Poppins"/>
                </a:rPr>
                <a:t>Edge Cases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419489" y="5676900"/>
              <a:ext cx="857228" cy="276225"/>
            </a:xfrm>
            <a:prstGeom prst="roundRect">
              <a:avLst>
                <a:gd name="adj" fmla="val 68958620"/>
              </a:avLst>
            </a:prstGeom>
            <a:solidFill>
              <a:srgbClr val="DCFC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419489" y="5676900"/>
              <a:ext cx="857228" cy="2762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1">
                  <a:solidFill>
                    <a:srgbClr val="15803D"/>
                  </a:solidFill>
                  <a:latin typeface="Poppins"/>
                </a:rPr>
                <a:t>✓ Passed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2516" y="6038849"/>
              <a:ext cx="3924201" cy="2000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52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Max quantities, long names, empty cart, order cancellation</a:t>
              </a:r>
            </a:p>
          </p:txBody>
        </p:sp>
      </p:grpSp>
      <p:sp>
        <p:nvSpPr>
          <p:cNvPr id="35" name="Rectangle 34"/>
          <p:cNvSpPr/>
          <p:nvPr/>
        </p:nvSpPr>
        <p:spPr>
          <a:xfrm>
            <a:off x="6095847" y="20574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8243" y="2019299"/>
            <a:ext cx="282885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Performance Metrics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8243" y="2609850"/>
            <a:ext cx="5276718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C40FCF-EC57-4AAE-8933-5880C18AA590}"/>
              </a:ext>
            </a:extLst>
          </p:cNvPr>
          <p:cNvGrpSpPr/>
          <p:nvPr/>
        </p:nvGrpSpPr>
        <p:grpSpPr>
          <a:xfrm>
            <a:off x="6449869" y="2928937"/>
            <a:ext cx="2581210" cy="685800"/>
            <a:chOff x="6248243" y="5105400"/>
            <a:chExt cx="2581210" cy="685800"/>
          </a:xfrm>
        </p:grpSpPr>
        <p:sp>
          <p:nvSpPr>
            <p:cNvPr id="38" name="Rounded Rectangle 37"/>
            <p:cNvSpPr/>
            <p:nvPr/>
          </p:nvSpPr>
          <p:spPr>
            <a:xfrm>
              <a:off x="6248243" y="5105400"/>
              <a:ext cx="2581210" cy="685800"/>
            </a:xfrm>
            <a:prstGeom prst="roundRect">
              <a:avLst>
                <a:gd name="adj" fmla="val 22222"/>
              </a:avLst>
            </a:prstGeom>
            <a:gradFill rotWithShape="1">
              <a:gsLst>
                <a:gs pos="0">
                  <a:srgbClr val="EFF6FF"/>
                </a:gs>
                <a:gs pos="100000">
                  <a:srgbClr val="FFFFFF"/>
                </a:gs>
              </a:gsLst>
              <a:lin ang="8100000" scaled="0"/>
            </a:gradFill>
            <a:ln w="8255">
              <a:solidFill>
                <a:srgbClr val="42A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9" name="Picture 38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72065" y="5274888"/>
              <a:ext cx="190495" cy="137272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6638759" y="5238749"/>
              <a:ext cx="1152496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4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1">
                  <a:solidFill>
                    <a:srgbClr val="1F2937"/>
                  </a:solidFill>
                  <a:latin typeface="Poppins"/>
                </a:rPr>
                <a:t>Fast Operations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72065" y="5486400"/>
              <a:ext cx="2333566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2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77" b="0" dirty="0">
                  <a:solidFill>
                    <a:srgbClr val="4B5563"/>
                  </a:solidFill>
                  <a:latin typeface="Poppins"/>
                </a:rPr>
                <a:t>Sub-second save/load times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8ED5115-40C5-4436-A257-0D6B23AFBEF7}"/>
              </a:ext>
            </a:extLst>
          </p:cNvPr>
          <p:cNvGrpSpPr/>
          <p:nvPr/>
        </p:nvGrpSpPr>
        <p:grpSpPr>
          <a:xfrm>
            <a:off x="8661449" y="3926120"/>
            <a:ext cx="2581210" cy="685800"/>
            <a:chOff x="8943751" y="5105400"/>
            <a:chExt cx="2581210" cy="685800"/>
          </a:xfrm>
        </p:grpSpPr>
        <p:sp>
          <p:nvSpPr>
            <p:cNvPr id="42" name="Rounded Rectangle 41"/>
            <p:cNvSpPr/>
            <p:nvPr/>
          </p:nvSpPr>
          <p:spPr>
            <a:xfrm>
              <a:off x="8943751" y="5105400"/>
              <a:ext cx="2581210" cy="685800"/>
            </a:xfrm>
            <a:prstGeom prst="roundRect">
              <a:avLst>
                <a:gd name="adj" fmla="val 22222"/>
              </a:avLst>
            </a:prstGeom>
            <a:gradFill rotWithShape="1">
              <a:gsLst>
                <a:gs pos="0">
                  <a:srgbClr val="F0FDF4"/>
                </a:gs>
                <a:gs pos="100000">
                  <a:srgbClr val="FFFFFF"/>
                </a:gs>
              </a:gsLst>
              <a:lin ang="8100000" scaled="0"/>
            </a:gradFill>
            <a:ln w="8255">
              <a:solidFill>
                <a:srgbClr val="4ADE8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3" name="Picture 42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067573" y="5267885"/>
              <a:ext cx="190495" cy="151279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9334266" y="5238749"/>
              <a:ext cx="1209644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4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1" dirty="0">
                  <a:solidFill>
                    <a:srgbClr val="1F2937"/>
                  </a:solidFill>
                  <a:latin typeface="Poppins"/>
                </a:rPr>
                <a:t>Efficient Memory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067573" y="5486400"/>
              <a:ext cx="2333566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2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77" b="0" dirty="0">
                  <a:solidFill>
                    <a:srgbClr val="4B5563"/>
                  </a:solidFill>
                  <a:latin typeface="Poppins"/>
                </a:rPr>
                <a:t>Dynamic allocation used</a:t>
              </a:r>
            </a:p>
          </p:txBody>
        </p:sp>
      </p:grpSp>
      <p:sp>
        <p:nvSpPr>
          <p:cNvPr id="46" name="Rounded Rectangle 4">
            <a:extLst>
              <a:ext uri="{FF2B5EF4-FFF2-40B4-BE49-F238E27FC236}">
                <a16:creationId xmlns:a16="http://schemas.microsoft.com/office/drawing/2014/main" id="{B1A49599-FE9A-4808-B3CA-3D3F0DBA90F6}"/>
              </a:ext>
            </a:extLst>
          </p:cNvPr>
          <p:cNvSpPr/>
          <p:nvPr/>
        </p:nvSpPr>
        <p:spPr>
          <a:xfrm>
            <a:off x="7745437" y="341573"/>
            <a:ext cx="2571685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A9770E-7797-4400-A76F-8A405B894C8C}"/>
              </a:ext>
            </a:extLst>
          </p:cNvPr>
          <p:cNvSpPr txBox="1"/>
          <p:nvPr/>
        </p:nvSpPr>
        <p:spPr>
          <a:xfrm>
            <a:off x="8174067" y="367756"/>
            <a:ext cx="1777987" cy="2989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Poppins"/>
              </a:rPr>
              <a:t>Presented by 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Diya Bipasha</a:t>
            </a:r>
            <a:endParaRPr sz="956" b="0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E36B4A-04CE-40F0-8D38-C84C70DF4D80}"/>
              </a:ext>
            </a:extLst>
          </p:cNvPr>
          <p:cNvSpPr txBox="1"/>
          <p:nvPr/>
        </p:nvSpPr>
        <p:spPr>
          <a:xfrm>
            <a:off x="11630025" y="153975"/>
            <a:ext cx="914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2882"/>
            <a:ext cx="342891" cy="28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523861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Future Scope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257300"/>
            <a:ext cx="241928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Current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29" y="1743075"/>
            <a:ext cx="4609984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901638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8219" y="1857375"/>
            <a:ext cx="407659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Console-based UI may not be intuitive for non-technical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29" y="2505074"/>
            <a:ext cx="4609984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26" y="26580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8219" y="2619374"/>
            <a:ext cx="389562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No network capability or online transaction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3038475"/>
            <a:ext cx="4609984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3192836"/>
            <a:ext cx="190495" cy="1484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3152775"/>
            <a:ext cx="407659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Limited search functionality without advanced filtering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733" y="39814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129" y="3952874"/>
            <a:ext cx="276218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Future Enhancements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29" y="4438649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6557" y="4701221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45860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76318" y="4552949"/>
            <a:ext cx="188590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Graphical User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18" y="4781549"/>
            <a:ext cx="295267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Migration to GTK, Qt, or web-based 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5172075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56557" y="5434647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525" y="5330638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76318" y="5286375"/>
            <a:ext cx="165730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1F2937"/>
                </a:solidFill>
                <a:latin typeface="Poppins"/>
              </a:rPr>
              <a:t>Database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6318" y="5514975"/>
            <a:ext cx="250501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Replace text files with SQLite or MySQL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129" y="5905500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6557" y="6168072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1525" y="60528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76318" y="6019800"/>
            <a:ext cx="15715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Real OTP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76318" y="6248400"/>
            <a:ext cx="319079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Connect with Twilio or Nexmo SMS gateway APIs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8A6589-1E96-4534-B850-F3D834EF0E07}"/>
              </a:ext>
            </a:extLst>
          </p:cNvPr>
          <p:cNvGrpSpPr/>
          <p:nvPr/>
        </p:nvGrpSpPr>
        <p:grpSpPr>
          <a:xfrm>
            <a:off x="6070365" y="1152523"/>
            <a:ext cx="4609984" cy="657226"/>
            <a:chOff x="819129" y="6638923"/>
            <a:chExt cx="4609984" cy="657226"/>
          </a:xfrm>
        </p:grpSpPr>
        <p:sp>
          <p:nvSpPr>
            <p:cNvPr id="33" name="Rounded Rectangle 32"/>
            <p:cNvSpPr/>
            <p:nvPr/>
          </p:nvSpPr>
          <p:spPr>
            <a:xfrm>
              <a:off x="819129" y="6638924"/>
              <a:ext cx="4609984" cy="657225"/>
            </a:xfrm>
            <a:prstGeom prst="roundRect">
              <a:avLst>
                <a:gd name="adj" fmla="val 23188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 Same Side Corner Rectangle 33"/>
            <p:cNvSpPr/>
            <p:nvPr/>
          </p:nvSpPr>
          <p:spPr>
            <a:xfrm rot="16200000">
              <a:off x="556557" y="6901496"/>
              <a:ext cx="657225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5" name="Picture 34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71525" y="6797488"/>
              <a:ext cx="190495" cy="140073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276318" y="6753224"/>
              <a:ext cx="1447763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6" b="1">
                  <a:solidFill>
                    <a:srgbClr val="1F2937"/>
                  </a:solidFill>
                  <a:latin typeface="Poppins"/>
                </a:rPr>
                <a:t>Cloud Deployment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276318" y="6981824"/>
              <a:ext cx="3124121" cy="2000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Enable remote access and automatic backups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095847" y="19621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8243" y="1933574"/>
            <a:ext cx="218117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Project Summary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7" y="2419349"/>
            <a:ext cx="5429114" cy="2152650"/>
          </a:xfrm>
          <a:prstGeom prst="roundRect">
            <a:avLst>
              <a:gd name="adj" fmla="val 10619"/>
            </a:avLst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86342" y="2609850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75826" y="2708860"/>
            <a:ext cx="687945" cy="4306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74" b="1" dirty="0">
                <a:solidFill>
                  <a:srgbClr val="FFFFFF"/>
                </a:solidFill>
                <a:latin typeface="Poppins"/>
              </a:rPr>
              <a:t>2050</a:t>
            </a:r>
            <a:endParaRPr sz="1674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639" y="3124200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Lines of Code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7553" y="2609850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81850" y="2724150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81850" y="3124200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Portal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6342" y="3552825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639" y="3667124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>
                <a:solidFill>
                  <a:srgbClr val="FFFFFF"/>
                </a:solidFill>
                <a:latin typeface="Poppins"/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639" y="4067174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Input Validation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7553" y="3552825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81850" y="3667124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1850" y="4067174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Cross-Platform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5847" y="48386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48243" y="4800600"/>
            <a:ext cx="300982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Development Roadmap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48243" y="5286375"/>
            <a:ext cx="723881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48243" y="5286375"/>
            <a:ext cx="72388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422" y="5314950"/>
            <a:ext cx="191447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Poppins"/>
              </a:rPr>
              <a:t>GUI Development (GTK/Qt)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8243" y="5638799"/>
            <a:ext cx="752456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243" y="5638799"/>
            <a:ext cx="75245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4997" y="5667374"/>
            <a:ext cx="141918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Poppins"/>
              </a:rPr>
              <a:t>Database Migration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8243" y="5991225"/>
            <a:ext cx="752456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48243" y="5991225"/>
            <a:ext cx="75245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997" y="6019800"/>
            <a:ext cx="14668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 dirty="0">
                <a:solidFill>
                  <a:srgbClr val="374151"/>
                </a:solidFill>
                <a:latin typeface="Poppins"/>
              </a:rPr>
              <a:t>Network Capabilities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48243" y="6343650"/>
            <a:ext cx="761980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48243" y="6343650"/>
            <a:ext cx="761980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24521" y="6372225"/>
            <a:ext cx="13334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 dirty="0">
                <a:solidFill>
                  <a:srgbClr val="374151"/>
                </a:solidFill>
                <a:latin typeface="Poppins"/>
              </a:rPr>
              <a:t>Cloud Deployment</a:t>
            </a:r>
          </a:p>
        </p:txBody>
      </p:sp>
      <p:sp>
        <p:nvSpPr>
          <p:cNvPr id="69" name="Rounded Rectangle 4">
            <a:extLst>
              <a:ext uri="{FF2B5EF4-FFF2-40B4-BE49-F238E27FC236}">
                <a16:creationId xmlns:a16="http://schemas.microsoft.com/office/drawing/2014/main" id="{47A5D869-B3F6-4127-A9E2-017E1861D257}"/>
              </a:ext>
            </a:extLst>
          </p:cNvPr>
          <p:cNvSpPr/>
          <p:nvPr/>
        </p:nvSpPr>
        <p:spPr>
          <a:xfrm>
            <a:off x="7745437" y="341573"/>
            <a:ext cx="2571685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CB4744-1475-4367-B94D-D9F669A12833}"/>
              </a:ext>
            </a:extLst>
          </p:cNvPr>
          <p:cNvSpPr txBox="1"/>
          <p:nvPr/>
        </p:nvSpPr>
        <p:spPr>
          <a:xfrm>
            <a:off x="8174067" y="367756"/>
            <a:ext cx="1891800" cy="2989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Poppins"/>
              </a:rPr>
              <a:t>Presented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By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Ayrin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Alom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Any</a:t>
            </a:r>
            <a:endParaRPr sz="956" b="0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179EAB-5F8C-4807-B480-CF2F7A62E2E6}"/>
              </a:ext>
            </a:extLst>
          </p:cNvPr>
          <p:cNvSpPr txBox="1"/>
          <p:nvPr/>
        </p:nvSpPr>
        <p:spPr>
          <a:xfrm>
            <a:off x="11630025" y="153975"/>
            <a:ext cx="914400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610</Words>
  <Application>Microsoft Office PowerPoint</Application>
  <PresentationFormat>Widescreen</PresentationFormat>
  <Paragraphs>185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Poppins</vt:lpstr>
      <vt:lpstr>SFMono-Regular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6</cp:revision>
  <dcterms:created xsi:type="dcterms:W3CDTF">2013-01-27T09:14:16Z</dcterms:created>
  <dcterms:modified xsi:type="dcterms:W3CDTF">2026-04-19T03:23:55Z</dcterms:modified>
  <cp:category/>
</cp:coreProperties>
</file>