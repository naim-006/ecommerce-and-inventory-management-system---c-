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754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12" Type="http://schemas.openxmlformats.org/officeDocument/2006/relationships/image" Target="../media/image3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11" Type="http://schemas.openxmlformats.org/officeDocument/2006/relationships/image" Target="../media/image30.png"/><Relationship Id="rId5" Type="http://schemas.openxmlformats.org/officeDocument/2006/relationships/image" Target="../media/image25.png"/><Relationship Id="rId10" Type="http://schemas.openxmlformats.org/officeDocument/2006/relationships/hyperlink" Target="https://github.com/Naim-006/Ecommerce-and-inventory-management-system---c-" TargetMode="External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30.png"/><Relationship Id="rId3" Type="http://schemas.openxmlformats.org/officeDocument/2006/relationships/image" Target="../media/image33.png"/><Relationship Id="rId7" Type="http://schemas.openxmlformats.org/officeDocument/2006/relationships/image" Target="../media/image35.png"/><Relationship Id="rId12" Type="http://schemas.openxmlformats.org/officeDocument/2006/relationships/hyperlink" Target="https://github.com/Naim-006/Ecommerce-and-inventory-management-system---c-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11" Type="http://schemas.openxmlformats.org/officeDocument/2006/relationships/image" Target="../media/image29.png"/><Relationship Id="rId5" Type="http://schemas.openxmlformats.org/officeDocument/2006/relationships/image" Target="../media/image26.png"/><Relationship Id="rId15" Type="http://schemas.openxmlformats.org/officeDocument/2006/relationships/image" Target="../media/image22.png"/><Relationship Id="rId10" Type="http://schemas.openxmlformats.org/officeDocument/2006/relationships/image" Target="../media/image37.png"/><Relationship Id="rId4" Type="http://schemas.openxmlformats.org/officeDocument/2006/relationships/image" Target="../media/image34.png"/><Relationship Id="rId9" Type="http://schemas.openxmlformats.org/officeDocument/2006/relationships/image" Target="../media/image24.png"/><Relationship Id="rId14" Type="http://schemas.openxmlformats.org/officeDocument/2006/relationships/image" Target="../media/image3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976D2">
                  <a:alpha val="92000"/>
                </a:srgbClr>
              </a:gs>
              <a:gs pos="100000">
                <a:srgbClr val="0D47A1">
                  <a:alpha val="95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66733" y="952499"/>
            <a:ext cx="2857428" cy="400050"/>
          </a:xfrm>
          <a:prstGeom prst="roundRect">
            <a:avLst>
              <a:gd name="adj" fmla="val 47614285"/>
            </a:avLst>
          </a:prstGeom>
          <a:solidFill>
            <a:srgbClr val="FFFFFF">
              <a:alpha val="20000"/>
            </a:srgbClr>
          </a:solidFill>
          <a:ln w="825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6753" y="1057275"/>
            <a:ext cx="245738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Poppins"/>
              </a:rPr>
              <a:t>CSE124: Data Structures Laboratory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33" y="1581149"/>
            <a:ext cx="7676958" cy="1381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4680"/>
              </a:lnSpc>
              <a:spcBef>
                <a:spcPts val="0"/>
              </a:spcBef>
              <a:spcAft>
                <a:spcPts val="1040"/>
              </a:spcAft>
            </a:pPr>
            <a:r>
              <a:rPr sz="3468" b="1">
                <a:solidFill>
                  <a:srgbClr val="FFFFFF"/>
                </a:solidFill>
                <a:latin typeface="Poppins"/>
              </a:rPr>
              <a:t> E-Commerce &amp; Inventory</a:t>
            </a:r>
            <a:r>
              <a:rPr sz="1104"/>
              <a:t>
</a:t>
            </a:r>
            <a:r>
              <a:rPr sz="3468" b="1">
                <a:solidFill>
                  <a:srgbClr val="FFFFFF"/>
                </a:solidFill>
                <a:latin typeface="Poppins"/>
              </a:rPr>
              <a:t> Management System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6733" y="3114675"/>
            <a:ext cx="914377" cy="38100"/>
          </a:xfrm>
          <a:prstGeom prst="roundRect">
            <a:avLst>
              <a:gd name="adj" fmla="val 2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6733" y="3381375"/>
            <a:ext cx="7676958" cy="61912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2600"/>
              </a:spcAft>
            </a:pPr>
            <a:r>
              <a:rPr sz="1196" b="0">
                <a:solidFill>
                  <a:srgbClr val="F3F4F6"/>
                </a:solidFill>
                <a:latin typeface="Poppins"/>
              </a:rPr>
              <a:t> A Console-Based Application Using C Programming Language</a:t>
            </a:r>
            <a:r>
              <a:rPr sz="1104"/>
              <a:t>
</a:t>
            </a:r>
            <a:r>
              <a:rPr sz="1196" b="0">
                <a:solidFill>
                  <a:srgbClr val="F3F4F6"/>
                </a:solidFill>
                <a:latin typeface="Poppins"/>
              </a:rPr>
              <a:t> Dual Portal Architecture with Customer &amp; Admin Features 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733" y="4443412"/>
            <a:ext cx="228594" cy="1428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71525" y="4381499"/>
            <a:ext cx="114297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Poppins"/>
              </a:rPr>
              <a:t>Project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33" y="4762500"/>
            <a:ext cx="9524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42A5F5"/>
                </a:solidFill>
                <a:latin typeface="Poppins"/>
              </a:rP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753" y="5379243"/>
            <a:ext cx="106677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>
                <a:solidFill>
                  <a:srgbClr val="F3F4F6"/>
                </a:solidFill>
                <a:latin typeface="Poppins"/>
              </a:rPr>
              <a:t>NAIM HOSSAIN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2056" y="5381625"/>
            <a:ext cx="714357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 dirty="0">
                <a:solidFill>
                  <a:srgbClr val="D1D5DB"/>
                </a:solidFill>
                <a:latin typeface="Poppins"/>
              </a:rPr>
              <a:t>252-15-178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31" y="6019798"/>
            <a:ext cx="9524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>
                <a:solidFill>
                  <a:srgbClr val="42A5F5"/>
                </a:solidFill>
                <a:latin typeface="Poppins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179" y="6038849"/>
            <a:ext cx="1228694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>
                <a:solidFill>
                  <a:srgbClr val="F3F4F6"/>
                </a:solidFill>
                <a:latin typeface="Poppins"/>
              </a:rPr>
              <a:t>AYRIN ALOM 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8328" y="6038849"/>
            <a:ext cx="752456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 dirty="0">
                <a:solidFill>
                  <a:srgbClr val="D1D5DB"/>
                </a:solidFill>
                <a:latin typeface="Poppins"/>
              </a:rPr>
              <a:t>252-15-520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33" y="5067299"/>
            <a:ext cx="9524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42A5F5"/>
                </a:solidFill>
                <a:latin typeface="Poppins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179" y="5067299"/>
            <a:ext cx="167635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3F4F6"/>
                </a:solidFill>
                <a:latin typeface="Poppins"/>
              </a:rPr>
              <a:t>MD. AJMINE ADIL SADIK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85952" y="5086350"/>
            <a:ext cx="704832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 dirty="0">
                <a:solidFill>
                  <a:srgbClr val="D1D5DB"/>
                </a:solidFill>
                <a:latin typeface="Poppins"/>
              </a:rPr>
              <a:t>252-15-172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32" y="5676898"/>
            <a:ext cx="9524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>
                <a:solidFill>
                  <a:srgbClr val="42A5F5"/>
                </a:solidFill>
                <a:latin typeface="Poppins"/>
              </a:rPr>
              <a:t>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179" y="5676899"/>
            <a:ext cx="100009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>
                <a:solidFill>
                  <a:srgbClr val="F3F4F6"/>
                </a:solidFill>
                <a:latin typeface="Poppins"/>
              </a:rPr>
              <a:t>DIYA BIPASHA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2140" y="5695950"/>
            <a:ext cx="752456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D1D5DB"/>
                </a:solidFill>
                <a:latin typeface="Poppins"/>
              </a:rPr>
              <a:t>252-15-652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33" y="5372100"/>
            <a:ext cx="9524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42A5F5"/>
                </a:solidFill>
                <a:latin typeface="Poppins"/>
              </a:rPr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892" y="4750593"/>
            <a:ext cx="145728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>
                <a:solidFill>
                  <a:srgbClr val="F3F4F6"/>
                </a:solidFill>
                <a:latin typeface="Poppins"/>
              </a:rPr>
              <a:t>TASNEEM BINTE AZIZ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62140" y="4772025"/>
            <a:ext cx="752456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 dirty="0">
                <a:solidFill>
                  <a:srgbClr val="D1D5DB"/>
                </a:solidFill>
                <a:latin typeface="Poppins"/>
              </a:rPr>
              <a:t>252-15-070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67841" y="727742"/>
            <a:ext cx="285742" cy="22160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831632" y="4498159"/>
            <a:ext cx="1345176" cy="286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FFFFFF"/>
                </a:solidFill>
                <a:latin typeface="Poppins"/>
              </a:rPr>
              <a:t>Submitted 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5488" y="677281"/>
            <a:ext cx="2943150" cy="32252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 dirty="0">
                <a:solidFill>
                  <a:srgbClr val="FFFFFF"/>
                </a:solidFill>
                <a:latin typeface="Poppins"/>
              </a:rPr>
              <a:t>DAFFODIL INTERNATIONAL UNIVERSITY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2BFE2E1F-81B7-4B7E-91CC-E1769C493598}"/>
              </a:ext>
            </a:extLst>
          </p:cNvPr>
          <p:cNvGrpSpPr/>
          <p:nvPr/>
        </p:nvGrpSpPr>
        <p:grpSpPr>
          <a:xfrm>
            <a:off x="7831632" y="4828987"/>
            <a:ext cx="2743542" cy="1500313"/>
            <a:chOff x="8724272" y="4930968"/>
            <a:chExt cx="2743542" cy="1500313"/>
          </a:xfrm>
        </p:grpSpPr>
        <p:sp>
          <p:nvSpPr>
            <p:cNvPr id="26" name="Rounded Rectangle 25"/>
            <p:cNvSpPr/>
            <p:nvPr/>
          </p:nvSpPr>
          <p:spPr>
            <a:xfrm>
              <a:off x="8724272" y="4930968"/>
              <a:ext cx="2267712" cy="1500313"/>
            </a:xfrm>
            <a:prstGeom prst="roundRect">
              <a:avLst>
                <a:gd name="adj" fmla="val 9600"/>
              </a:avLst>
            </a:prstGeom>
            <a:solidFill>
              <a:srgbClr val="FFFFFF">
                <a:alpha val="15000"/>
              </a:srgbClr>
            </a:solidFill>
            <a:ln w="8255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72B78211-B238-4369-AAC3-8024BE4F224F}"/>
                </a:ext>
              </a:extLst>
            </p:cNvPr>
            <p:cNvGrpSpPr/>
            <p:nvPr/>
          </p:nvGrpSpPr>
          <p:grpSpPr>
            <a:xfrm>
              <a:off x="9143773" y="5143504"/>
              <a:ext cx="2324041" cy="747966"/>
              <a:chOff x="8905653" y="2038353"/>
              <a:chExt cx="2324041" cy="747966"/>
            </a:xfrm>
          </p:grpSpPr>
          <p:pic>
            <p:nvPicPr>
              <p:cNvPr id="30" name="Picture 29" descr="image.png"/>
              <p:cNvPicPr>
                <a:picLocks noChangeAspect="1"/>
              </p:cNvPicPr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8965283" y="2090737"/>
                <a:ext cx="133346" cy="101346"/>
              </a:xfrm>
              <a:prstGeom prst="rect">
                <a:avLst/>
              </a:prstGeom>
            </p:spPr>
          </p:pic>
          <p:sp>
            <p:nvSpPr>
              <p:cNvPr id="31" name="TextBox 30"/>
              <p:cNvSpPr txBox="1"/>
              <p:nvPr/>
            </p:nvSpPr>
            <p:spPr>
              <a:xfrm>
                <a:off x="9199027" y="2038353"/>
                <a:ext cx="695307" cy="190499"/>
              </a:xfrm>
              <a:prstGeom prst="rect">
                <a:avLst/>
              </a:prstGeom>
              <a:noFill/>
            </p:spPr>
            <p:txBody>
              <a:bodyPr wrap="none" lIns="73152" tIns="54864" rIns="73152" bIns="54864" anchor="ctr">
                <a:spAutoFit/>
              </a:bodyPr>
              <a:lstStyle/>
              <a:p>
                <a:pPr algn="l">
                  <a:lnSpc>
                    <a:spcPts val="13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37" b="0" dirty="0">
                    <a:solidFill>
                      <a:srgbClr val="F3F4F6"/>
                    </a:solidFill>
                    <a:latin typeface="Poppins"/>
                  </a:rPr>
                  <a:t>Supervisor</a:t>
                </a:r>
              </a:p>
            </p:txBody>
          </p:sp>
          <p:sp>
            <p:nvSpPr>
              <p:cNvPr id="32" name="TextBox 31"/>
              <p:cNvSpPr txBox="1"/>
              <p:nvPr/>
            </p:nvSpPr>
            <p:spPr>
              <a:xfrm>
                <a:off x="8905653" y="2324101"/>
                <a:ext cx="2324041" cy="228600"/>
              </a:xfrm>
              <a:prstGeom prst="rect">
                <a:avLst/>
              </a:prstGeom>
              <a:noFill/>
            </p:spPr>
            <p:txBody>
              <a:bodyPr wrap="none" lIns="73152" tIns="54864" rIns="73152" bIns="54864" anchor="ctr">
                <a:spAutoFit/>
              </a:bodyPr>
              <a:lstStyle/>
              <a:p>
                <a:pPr algn="l">
                  <a:lnSpc>
                    <a:spcPts val="156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956" b="0" dirty="0">
                    <a:solidFill>
                      <a:srgbClr val="FFFFFF"/>
                    </a:solidFill>
                    <a:latin typeface="Poppins"/>
                  </a:rPr>
                  <a:t>MD. JAKARIA ZOBAIR</a:t>
                </a:r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8905653" y="2595820"/>
                <a:ext cx="2324041" cy="190499"/>
              </a:xfrm>
              <a:prstGeom prst="rect">
                <a:avLst/>
              </a:prstGeom>
              <a:noFill/>
            </p:spPr>
            <p:txBody>
              <a:bodyPr wrap="none" lIns="73152" tIns="54864" rIns="73152" bIns="54864" anchor="ctr">
                <a:spAutoFit/>
              </a:bodyPr>
              <a:lstStyle/>
              <a:p>
                <a:pPr algn="l">
                  <a:lnSpc>
                    <a:spcPts val="13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37" b="0" dirty="0">
                    <a:solidFill>
                      <a:srgbClr val="E5E7EB"/>
                    </a:solidFill>
                    <a:latin typeface="Poppins"/>
                  </a:rPr>
                  <a:t>Lecturer, Dept. of CSE</a:t>
                </a:r>
              </a:p>
            </p:txBody>
          </p:sp>
        </p:grpSp>
      </p:grpSp>
      <p:sp>
        <p:nvSpPr>
          <p:cNvPr id="40" name="Rounded Rectangle 39"/>
          <p:cNvSpPr/>
          <p:nvPr/>
        </p:nvSpPr>
        <p:spPr>
          <a:xfrm>
            <a:off x="8438938" y="3087622"/>
            <a:ext cx="1342991" cy="876299"/>
          </a:xfrm>
          <a:prstGeom prst="roundRect">
            <a:avLst>
              <a:gd name="adj" fmla="val 17391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B80AF6A7-3C84-4545-B8DC-1ADE875C2ECB}"/>
              </a:ext>
            </a:extLst>
          </p:cNvPr>
          <p:cNvGrpSpPr/>
          <p:nvPr/>
        </p:nvGrpSpPr>
        <p:grpSpPr>
          <a:xfrm>
            <a:off x="8438939" y="2097022"/>
            <a:ext cx="2762180" cy="1752601"/>
            <a:chOff x="8762781" y="3743323"/>
            <a:chExt cx="2762180" cy="1752601"/>
          </a:xfrm>
        </p:grpSpPr>
        <p:sp>
          <p:nvSpPr>
            <p:cNvPr id="34" name="Rounded Rectangle 33"/>
            <p:cNvSpPr/>
            <p:nvPr/>
          </p:nvSpPr>
          <p:spPr>
            <a:xfrm>
              <a:off x="8762781" y="3743323"/>
              <a:ext cx="1342991" cy="876299"/>
            </a:xfrm>
            <a:prstGeom prst="roundRect">
              <a:avLst>
                <a:gd name="adj" fmla="val 17391"/>
              </a:avLst>
            </a:prstGeom>
            <a:solidFill>
              <a:srgbClr val="FFFFFF">
                <a:alpha val="1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031366" y="3907047"/>
              <a:ext cx="729623" cy="396455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ctr">
                <a:lnSpc>
                  <a:spcPts val="2340"/>
                </a:lnSpc>
                <a:spcBef>
                  <a:spcPts val="0"/>
                </a:spcBef>
                <a:spcAft>
                  <a:spcPts val="260"/>
                </a:spcAft>
              </a:pPr>
              <a:r>
                <a:rPr lang="en-US" sz="1794" b="1" dirty="0">
                  <a:solidFill>
                    <a:srgbClr val="42A5F5"/>
                  </a:solidFill>
                  <a:latin typeface="Poppins"/>
                </a:rPr>
                <a:t>2050</a:t>
              </a:r>
              <a:endParaRPr sz="1794" b="1" dirty="0">
                <a:solidFill>
                  <a:srgbClr val="42A5F5"/>
                </a:solidFill>
                <a:latin typeface="Poppins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8877078" y="4314825"/>
              <a:ext cx="1038199" cy="1904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ctr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37" b="0" dirty="0">
                  <a:solidFill>
                    <a:srgbClr val="FFFFFF"/>
                  </a:solidFill>
                  <a:latin typeface="Poppins"/>
                </a:rPr>
                <a:t>Lines of Code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10181970" y="3781424"/>
              <a:ext cx="1342991" cy="876299"/>
            </a:xfrm>
            <a:prstGeom prst="roundRect">
              <a:avLst>
                <a:gd name="adj" fmla="val 17391"/>
              </a:avLst>
            </a:prstGeom>
            <a:solidFill>
              <a:srgbClr val="FFFFFF">
                <a:alpha val="1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334366" y="3933824"/>
              <a:ext cx="1038199" cy="342900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ctr">
                <a:lnSpc>
                  <a:spcPts val="2340"/>
                </a:lnSpc>
                <a:spcBef>
                  <a:spcPts val="0"/>
                </a:spcBef>
                <a:spcAft>
                  <a:spcPts val="260"/>
                </a:spcAft>
              </a:pPr>
              <a:r>
                <a:rPr sz="1794" b="1">
                  <a:solidFill>
                    <a:srgbClr val="42A5F5"/>
                  </a:solidFill>
                  <a:latin typeface="Poppins"/>
                </a:rPr>
                <a:t>2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0334366" y="4314825"/>
              <a:ext cx="1038199" cy="1904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ctr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37" b="0">
                  <a:solidFill>
                    <a:srgbClr val="FFFFFF"/>
                  </a:solidFill>
                  <a:latin typeface="Poppins"/>
                </a:rPr>
                <a:t>Portals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8877078" y="4924424"/>
              <a:ext cx="1038199" cy="342900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ctr">
                <a:lnSpc>
                  <a:spcPts val="2340"/>
                </a:lnSpc>
                <a:spcBef>
                  <a:spcPts val="0"/>
                </a:spcBef>
                <a:spcAft>
                  <a:spcPts val="260"/>
                </a:spcAft>
              </a:pPr>
              <a:r>
                <a:rPr sz="1794" b="1" dirty="0">
                  <a:solidFill>
                    <a:srgbClr val="42A5F5"/>
                  </a:solidFill>
                  <a:latin typeface="Poppins"/>
                </a:rPr>
                <a:t>20+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8877078" y="5305425"/>
              <a:ext cx="1038199" cy="1904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ctr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37" b="0">
                  <a:solidFill>
                    <a:srgbClr val="FFFFFF"/>
                  </a:solidFill>
                  <a:latin typeface="Poppins"/>
                </a:rPr>
                <a:t>Functions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52499"/>
          </a:xfrm>
          <a:prstGeom prst="rect">
            <a:avLst/>
          </a:prstGeom>
          <a:gradFill rotWithShape="1">
            <a:gsLst>
              <a:gs pos="0">
                <a:srgbClr val="1976D2"/>
              </a:gs>
              <a:gs pos="100000">
                <a:srgbClr val="1565C0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331404"/>
            <a:ext cx="342891" cy="2896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62020" y="190499"/>
            <a:ext cx="6219669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Poppins"/>
              </a:rPr>
              <a:t>Introduction &amp; Project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66733" y="1381124"/>
            <a:ext cx="38099" cy="3048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19129" y="1333500"/>
            <a:ext cx="3447963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>
                <a:solidFill>
                  <a:srgbClr val="1F2937"/>
                </a:solidFill>
                <a:latin typeface="Poppins"/>
              </a:rPr>
              <a:t>Background &amp;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29" y="1847849"/>
            <a:ext cx="5829154" cy="9334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4B5563"/>
                </a:solidFill>
                <a:latin typeface="Poppins"/>
              </a:rPr>
              <a:t> Console-based application in C to streamline </a:t>
            </a:r>
            <a:r>
              <a:rPr sz="1196" b="1">
                <a:solidFill>
                  <a:srgbClr val="1976D2"/>
                </a:solidFill>
                <a:latin typeface="Poppins"/>
              </a:rPr>
              <a:t>product management, order processing, and customer interactions</a:t>
            </a:r>
            <a:r>
              <a:rPr sz="1196" b="0">
                <a:solidFill>
                  <a:srgbClr val="4B5563"/>
                </a:solidFill>
                <a:latin typeface="Poppins"/>
              </a:rPr>
              <a:t> for small to medium-sized retail businesses. </a:t>
            </a:r>
          </a:p>
        </p:txBody>
      </p:sp>
      <p:sp>
        <p:nvSpPr>
          <p:cNvPr id="8" name="Rectangle 7"/>
          <p:cNvSpPr/>
          <p:nvPr/>
        </p:nvSpPr>
        <p:spPr>
          <a:xfrm>
            <a:off x="666733" y="3124200"/>
            <a:ext cx="38099" cy="3048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9129" y="3086100"/>
            <a:ext cx="2000199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>
                <a:solidFill>
                  <a:srgbClr val="1F2937"/>
                </a:solidFill>
                <a:latin typeface="Poppins"/>
              </a:rPr>
              <a:t>Key Objectives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129" y="3690657"/>
            <a:ext cx="190495" cy="1624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85822" y="3638550"/>
            <a:ext cx="2085922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374151"/>
                </a:solidFill>
                <a:latin typeface="Poppins"/>
              </a:rPr>
              <a:t>Dual-portal architecture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90855" y="3690657"/>
            <a:ext cx="190495" cy="16248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57548" y="3638550"/>
            <a:ext cx="2343091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374151"/>
                </a:solidFill>
                <a:latin typeface="Poppins"/>
              </a:rPr>
              <a:t>Linked-list-based inventory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129" y="4052607"/>
            <a:ext cx="190495" cy="16248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5822" y="4000500"/>
            <a:ext cx="187637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374151"/>
                </a:solidFill>
                <a:latin typeface="Poppins"/>
              </a:rPr>
              <a:t>Shopping cart system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90855" y="4052607"/>
            <a:ext cx="190495" cy="1624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057548" y="4000500"/>
            <a:ext cx="1809704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374151"/>
                </a:solidFill>
                <a:latin typeface="Poppins"/>
              </a:rPr>
              <a:t>Order status tracking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129" y="4433607"/>
            <a:ext cx="190495" cy="16248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85822" y="4381499"/>
            <a:ext cx="227641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374151"/>
                </a:solidFill>
                <a:latin typeface="Poppins"/>
              </a:rPr>
              <a:t>OTP-based authentication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90855" y="4433607"/>
            <a:ext cx="190495" cy="16248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057548" y="4381499"/>
            <a:ext cx="2409764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374151"/>
                </a:solidFill>
                <a:latin typeface="Poppins"/>
              </a:rPr>
              <a:t>File-based data persistence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017" y="1476375"/>
            <a:ext cx="4209944" cy="4857750"/>
          </a:xfrm>
          <a:prstGeom prst="roundRect">
            <a:avLst>
              <a:gd name="adj" fmla="val 5429"/>
            </a:avLst>
          </a:prstGeom>
          <a:solidFill>
            <a:srgbClr val="FFFFFF"/>
          </a:solidFill>
          <a:ln w="1651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67593" y="1759194"/>
            <a:ext cx="304792" cy="23446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62660" y="2171700"/>
            <a:ext cx="3714657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520"/>
              </a:spcBef>
              <a:spcAft>
                <a:spcPts val="0"/>
              </a:spcAft>
            </a:pPr>
            <a:r>
              <a:rPr sz="1435" b="1">
                <a:solidFill>
                  <a:srgbClr val="1F2937"/>
                </a:solidFill>
                <a:latin typeface="Poppins"/>
              </a:rPr>
              <a:t>System Architecture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62660" y="2705099"/>
            <a:ext cx="3714657" cy="876299"/>
          </a:xfrm>
          <a:prstGeom prst="roundRect">
            <a:avLst>
              <a:gd name="adj" fmla="val 17391"/>
            </a:avLst>
          </a:prstGeom>
          <a:gradFill rotWithShape="1">
            <a:gsLst>
              <a:gs pos="0">
                <a:srgbClr val="1976D2"/>
              </a:gs>
              <a:gs pos="100000">
                <a:srgbClr val="42A5F5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15057" y="2857500"/>
            <a:ext cx="3409864" cy="5715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Poppins"/>
              </a:rPr>
              <a:t>E-Commerce &amp; Inventory Management System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62660" y="3733799"/>
            <a:ext cx="1800179" cy="1847849"/>
          </a:xfrm>
          <a:prstGeom prst="roundRect">
            <a:avLst>
              <a:gd name="adj" fmla="val 8465"/>
            </a:avLst>
          </a:prstGeom>
          <a:solidFill>
            <a:srgbClr val="EFF6FF"/>
          </a:solidFill>
          <a:ln w="1651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324641" y="3925542"/>
            <a:ext cx="266693" cy="22611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34106" y="4314825"/>
            <a:ext cx="145728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520"/>
              </a:spcBef>
              <a:spcAft>
                <a:spcPts val="0"/>
              </a:spcAft>
            </a:pPr>
            <a:r>
              <a:rPr sz="1076" b="1">
                <a:solidFill>
                  <a:srgbClr val="1F2937"/>
                </a:solidFill>
                <a:latin typeface="Poppins"/>
              </a:rPr>
              <a:t>Customer Portal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34106" y="4610099"/>
            <a:ext cx="1457288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260"/>
              </a:spcBef>
              <a:spcAft>
                <a:spcPts val="0"/>
              </a:spcAft>
            </a:pPr>
            <a:r>
              <a:rPr sz="837" b="0">
                <a:solidFill>
                  <a:srgbClr val="4B5563"/>
                </a:solidFill>
                <a:latin typeface="Poppins"/>
              </a:rPr>
              <a:t>Browse &amp; Buy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34106" y="4810124"/>
            <a:ext cx="1457288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4B5563"/>
                </a:solidFill>
                <a:latin typeface="Poppins"/>
              </a:rPr>
              <a:t>Cart &amp; Checkout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34106" y="5010149"/>
            <a:ext cx="1457288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4B5563"/>
                </a:solidFill>
                <a:latin typeface="Poppins"/>
              </a:rPr>
              <a:t>Order Tracking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77138" y="3733799"/>
            <a:ext cx="1800179" cy="1847849"/>
          </a:xfrm>
          <a:prstGeom prst="roundRect">
            <a:avLst>
              <a:gd name="adj" fmla="val 8465"/>
            </a:avLst>
          </a:prstGeom>
          <a:solidFill>
            <a:srgbClr val="EFF6FF"/>
          </a:solidFill>
          <a:ln w="1651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248643" y="3934239"/>
            <a:ext cx="266693" cy="208721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648583" y="4314825"/>
            <a:ext cx="145728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520"/>
              </a:spcBef>
              <a:spcAft>
                <a:spcPts val="0"/>
              </a:spcAft>
            </a:pPr>
            <a:r>
              <a:rPr sz="1076" b="1">
                <a:solidFill>
                  <a:srgbClr val="1F2937"/>
                </a:solidFill>
                <a:latin typeface="Poppins"/>
              </a:rPr>
              <a:t>Admin Portal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48583" y="4610099"/>
            <a:ext cx="1457288" cy="4000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260"/>
              </a:spcBef>
              <a:spcAft>
                <a:spcPts val="0"/>
              </a:spcAft>
            </a:pPr>
            <a:r>
              <a:rPr sz="837" b="0">
                <a:solidFill>
                  <a:srgbClr val="4B5563"/>
                </a:solidFill>
                <a:latin typeface="Poppins"/>
              </a:rPr>
              <a:t>Product Management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8583" y="5010149"/>
            <a:ext cx="1457288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4B5563"/>
                </a:solidFill>
                <a:latin typeface="Poppins"/>
              </a:rPr>
              <a:t>Order Operations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8583" y="5210174"/>
            <a:ext cx="1457288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4B5563"/>
                </a:solidFill>
                <a:latin typeface="Poppins"/>
              </a:rPr>
              <a:t>Inventory Control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62660" y="5734050"/>
            <a:ext cx="1819229" cy="352424"/>
          </a:xfrm>
          <a:prstGeom prst="roundRect">
            <a:avLst>
              <a:gd name="adj" fmla="val 21621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638859" y="5810249"/>
            <a:ext cx="1666833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374151"/>
                </a:solidFill>
                <a:latin typeface="Poppins"/>
              </a:rPr>
              <a:t>CRUD Operations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458088" y="5734050"/>
            <a:ext cx="1819229" cy="352424"/>
          </a:xfrm>
          <a:prstGeom prst="roundRect">
            <a:avLst>
              <a:gd name="adj" fmla="val 21621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534286" y="5810249"/>
            <a:ext cx="1666833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374151"/>
                </a:solidFill>
                <a:latin typeface="Poppins"/>
              </a:rPr>
              <a:t>Secure Authentication</a:t>
            </a:r>
          </a:p>
        </p:txBody>
      </p:sp>
      <p:sp>
        <p:nvSpPr>
          <p:cNvPr id="44" name="Rounded Rectangle 4">
            <a:extLst>
              <a:ext uri="{FF2B5EF4-FFF2-40B4-BE49-F238E27FC236}">
                <a16:creationId xmlns:a16="http://schemas.microsoft.com/office/drawing/2014/main" id="{CB907C0C-772A-4C3D-85F5-555DBAB80CAE}"/>
              </a:ext>
            </a:extLst>
          </p:cNvPr>
          <p:cNvSpPr/>
          <p:nvPr/>
        </p:nvSpPr>
        <p:spPr>
          <a:xfrm>
            <a:off x="7745437" y="341573"/>
            <a:ext cx="2571685" cy="380999"/>
          </a:xfrm>
          <a:prstGeom prst="roundRect">
            <a:avLst>
              <a:gd name="adj" fmla="val 49995000"/>
            </a:avLst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979DB7F-0253-48C3-A929-95FE6B882C61}"/>
              </a:ext>
            </a:extLst>
          </p:cNvPr>
          <p:cNvSpPr txBox="1"/>
          <p:nvPr/>
        </p:nvSpPr>
        <p:spPr>
          <a:xfrm>
            <a:off x="8174067" y="367756"/>
            <a:ext cx="2141868" cy="29899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>
                <a:solidFill>
                  <a:srgbClr val="FFFFFF"/>
                </a:solidFill>
                <a:latin typeface="Poppins"/>
              </a:rPr>
              <a:t>Presented by </a:t>
            </a:r>
            <a:r>
              <a:rPr lang="en-US" sz="956" b="0" dirty="0">
                <a:solidFill>
                  <a:srgbClr val="FFFFFF"/>
                </a:solidFill>
                <a:latin typeface="Poppins"/>
              </a:rPr>
              <a:t>Tasneem </a:t>
            </a:r>
            <a:r>
              <a:rPr lang="en-US" sz="956" b="0" dirty="0" err="1">
                <a:solidFill>
                  <a:srgbClr val="FFFFFF"/>
                </a:solidFill>
                <a:latin typeface="Poppins"/>
              </a:rPr>
              <a:t>Binte</a:t>
            </a:r>
            <a:r>
              <a:rPr lang="en-US" sz="956" b="0" dirty="0">
                <a:solidFill>
                  <a:srgbClr val="FFFFFF"/>
                </a:solidFill>
                <a:latin typeface="Poppins"/>
              </a:rPr>
              <a:t> Aziz</a:t>
            </a:r>
            <a:endParaRPr sz="956" b="0" dirty="0">
              <a:solidFill>
                <a:srgbClr val="FFFFFF"/>
              </a:solidFill>
              <a:latin typeface="Poppi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52499"/>
          </a:xfrm>
          <a:prstGeom prst="rect">
            <a:avLst/>
          </a:prstGeom>
          <a:gradFill rotWithShape="1">
            <a:gsLst>
              <a:gs pos="0">
                <a:srgbClr val="1976D2"/>
              </a:gs>
              <a:gs pos="100000">
                <a:srgbClr val="1565C0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343228"/>
            <a:ext cx="342891" cy="2660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62020" y="190499"/>
            <a:ext cx="8829454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Poppins"/>
              </a:rPr>
              <a:t>Requirement Analysis &amp; 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66733" y="1638299"/>
            <a:ext cx="38099" cy="3048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19129" y="1590675"/>
            <a:ext cx="2838379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>
                <a:solidFill>
                  <a:srgbClr val="1F2937"/>
                </a:solidFill>
                <a:latin typeface="Poppins"/>
              </a:rPr>
              <a:t>Core Data Structures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9129" y="2105024"/>
            <a:ext cx="4609984" cy="485775"/>
          </a:xfrm>
          <a:prstGeom prst="roundRect">
            <a:avLst>
              <a:gd name="adj" fmla="val 3137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 Same Side Corner Rectangle 7"/>
          <p:cNvSpPr/>
          <p:nvPr/>
        </p:nvSpPr>
        <p:spPr>
          <a:xfrm rot="16200000">
            <a:off x="642282" y="2281871"/>
            <a:ext cx="48577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1525" y="2245995"/>
            <a:ext cx="228594" cy="19430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76318" y="2219324"/>
            <a:ext cx="685782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1F2937"/>
                </a:solidFill>
                <a:latin typeface="Poppins"/>
              </a:rPr>
              <a:t>Product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38299" y="2228850"/>
            <a:ext cx="281932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4B5563"/>
                </a:solidFill>
                <a:latin typeface="Poppins"/>
              </a:rPr>
              <a:t>→ ID, Name, Quantity, Price, Category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129" y="2667000"/>
            <a:ext cx="4609984" cy="485775"/>
          </a:xfrm>
          <a:prstGeom prst="roundRect">
            <a:avLst>
              <a:gd name="adj" fmla="val 3137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 Same Side Corner Rectangle 12"/>
          <p:cNvSpPr/>
          <p:nvPr/>
        </p:nvSpPr>
        <p:spPr>
          <a:xfrm rot="16200000">
            <a:off x="642282" y="2843847"/>
            <a:ext cx="48577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71525" y="2817495"/>
            <a:ext cx="228594" cy="19430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276318" y="2781300"/>
            <a:ext cx="495287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1F2937"/>
                </a:solidFill>
                <a:latin typeface="Poppins"/>
              </a:rPr>
              <a:t>Order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7803" y="2800350"/>
            <a:ext cx="2209744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4B5563"/>
                </a:solidFill>
                <a:latin typeface="Poppins"/>
              </a:rPr>
              <a:t>→ ID, Customer, Status, Items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129" y="3228975"/>
            <a:ext cx="4609984" cy="485775"/>
          </a:xfrm>
          <a:prstGeom prst="roundRect">
            <a:avLst>
              <a:gd name="adj" fmla="val 3137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 Same Side Corner Rectangle 17"/>
          <p:cNvSpPr/>
          <p:nvPr/>
        </p:nvSpPr>
        <p:spPr>
          <a:xfrm rot="16200000">
            <a:off x="642282" y="3405822"/>
            <a:ext cx="48577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71525" y="3374231"/>
            <a:ext cx="228594" cy="18573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76318" y="3343275"/>
            <a:ext cx="895327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1F2937"/>
                </a:solidFill>
                <a:latin typeface="Poppins"/>
              </a:rPr>
              <a:t>OrderItem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7843" y="3352800"/>
            <a:ext cx="2628834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4B5563"/>
                </a:solidFill>
                <a:latin typeface="Poppins"/>
              </a:rPr>
              <a:t>→ ProductID, Name, Quantity, Price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129" y="3790949"/>
            <a:ext cx="4609984" cy="485775"/>
          </a:xfrm>
          <a:prstGeom prst="roundRect">
            <a:avLst>
              <a:gd name="adj" fmla="val 3137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 Same Side Corner Rectangle 22"/>
          <p:cNvSpPr/>
          <p:nvPr/>
        </p:nvSpPr>
        <p:spPr>
          <a:xfrm rot="16200000">
            <a:off x="642282" y="3967796"/>
            <a:ext cx="48577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71525" y="3950017"/>
            <a:ext cx="228594" cy="17716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276318" y="3905249"/>
            <a:ext cx="581010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1F2937"/>
                </a:solidFill>
                <a:latin typeface="Poppins"/>
              </a:rPr>
              <a:t>Admin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33526" y="3924299"/>
            <a:ext cx="134299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4B5563"/>
                </a:solidFill>
                <a:latin typeface="Poppins"/>
              </a:rPr>
              <a:t>→ OutletID, Phone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6733" y="4591050"/>
            <a:ext cx="38099" cy="3048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19129" y="4543425"/>
            <a:ext cx="2114497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>
                <a:solidFill>
                  <a:srgbClr val="1F2937"/>
                </a:solidFill>
                <a:latin typeface="Poppins"/>
              </a:rPr>
              <a:t>Storage Format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9129" y="5057775"/>
            <a:ext cx="4609984" cy="1162050"/>
          </a:xfrm>
          <a:prstGeom prst="roundRect">
            <a:avLst>
              <a:gd name="adj" fmla="val 13114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71525" y="5243232"/>
            <a:ext cx="190495" cy="1624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38219" y="5210174"/>
            <a:ext cx="190495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1F2937"/>
                </a:solidFill>
                <a:latin typeface="Poppins"/>
              </a:rPr>
              <a:t>Pipe-Delimited Text Files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1525" y="5514975"/>
            <a:ext cx="4305192" cy="552450"/>
          </a:xfrm>
          <a:prstGeom prst="roundRect">
            <a:avLst>
              <a:gd name="adj" fmla="val 13793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71525" y="5514975"/>
            <a:ext cx="4305192" cy="5524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4B5563"/>
                </a:solidFill>
                <a:latin typeface="SFMono-Regular"/>
              </a:rPr>
              <a:t> store_data.txt → Products &amp; Orders</a:t>
            </a:r>
            <a:r>
              <a:rPr sz="1104"/>
              <a:t>
</a:t>
            </a:r>
            <a:r>
              <a:rPr sz="837" b="0">
                <a:solidFill>
                  <a:srgbClr val="4B5563"/>
                </a:solidFill>
                <a:latin typeface="SFMono-Regular"/>
              </a:rPr>
              <a:t> admin_data.txt → Credentials 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5847" y="2019299"/>
            <a:ext cx="38099" cy="3048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248243" y="1962149"/>
            <a:ext cx="3667033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>
                <a:solidFill>
                  <a:srgbClr val="1F2937"/>
                </a:solidFill>
                <a:latin typeface="Poppins"/>
              </a:rPr>
              <a:t>Admin Authentication Flow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48243" y="2476499"/>
            <a:ext cx="5276718" cy="1504950"/>
          </a:xfrm>
          <a:prstGeom prst="roundRect">
            <a:avLst>
              <a:gd name="adj" fmla="val 1012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400639" y="2628900"/>
            <a:ext cx="609584" cy="609600"/>
          </a:xfrm>
          <a:prstGeom prst="roundRect">
            <a:avLst>
              <a:gd name="adj" fmla="val 31246875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572085" y="2820642"/>
            <a:ext cx="266693" cy="226115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400639" y="3314700"/>
            <a:ext cx="609584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1F2937"/>
                </a:solidFill>
                <a:latin typeface="Poppins"/>
              </a:rPr>
              <a:t>Outlet ID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581710" y="2993707"/>
            <a:ext cx="228594" cy="165734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8381790" y="2628900"/>
            <a:ext cx="609584" cy="609600"/>
          </a:xfrm>
          <a:prstGeom prst="roundRect">
            <a:avLst>
              <a:gd name="adj" fmla="val 31246875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553236" y="2820642"/>
            <a:ext cx="266693" cy="226115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381790" y="3314700"/>
            <a:ext cx="923901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1F2937"/>
                </a:solidFill>
                <a:latin typeface="Poppins"/>
              </a:rPr>
              <a:t>Generate OTP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9886702" y="2993707"/>
            <a:ext cx="228594" cy="165734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10686782" y="2628900"/>
            <a:ext cx="609584" cy="609600"/>
          </a:xfrm>
          <a:prstGeom prst="roundRect">
            <a:avLst>
              <a:gd name="adj" fmla="val 31246875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0858228" y="2809046"/>
            <a:ext cx="266693" cy="24930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686782" y="3314700"/>
            <a:ext cx="685782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1F2937"/>
                </a:solidFill>
                <a:latin typeface="Poppins"/>
              </a:rPr>
              <a:t>Verify OTP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639" y="3638550"/>
            <a:ext cx="4971925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780"/>
              </a:spcBef>
              <a:spcAft>
                <a:spcPts val="0"/>
              </a:spcAft>
            </a:pPr>
            <a:r>
              <a:rPr sz="837" b="0">
                <a:solidFill>
                  <a:srgbClr val="4B5563"/>
                </a:solidFill>
                <a:latin typeface="Poppins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4B5563"/>
                </a:solidFill>
                <a:latin typeface="Poppins"/>
              </a:rPr>
              <a:t> 3-attempt limit before access denial </a:t>
            </a: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7572185" y="3669846"/>
            <a:ext cx="152396" cy="146957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6095847" y="4305300"/>
            <a:ext cx="38099" cy="3048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48243" y="4248150"/>
            <a:ext cx="2009724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>
                <a:solidFill>
                  <a:srgbClr val="1F2937"/>
                </a:solidFill>
                <a:latin typeface="Poppins"/>
              </a:rPr>
              <a:t>Order Lifecycle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48243" y="4762500"/>
            <a:ext cx="5276718" cy="1076325"/>
          </a:xfrm>
          <a:prstGeom prst="roundRect">
            <a:avLst>
              <a:gd name="adj" fmla="val 1415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6400639" y="4914900"/>
            <a:ext cx="866753" cy="380999"/>
          </a:xfrm>
          <a:prstGeom prst="roundRect">
            <a:avLst>
              <a:gd name="adj" fmla="val 40000"/>
            </a:avLst>
          </a:prstGeom>
          <a:solidFill>
            <a:srgbClr val="FEF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514937" y="4991100"/>
            <a:ext cx="63815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A16207"/>
                </a:solidFill>
                <a:latin typeface="Poppins"/>
              </a:rPr>
              <a:t>Pending</a:t>
            </a:r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353116" y="5060632"/>
            <a:ext cx="228594" cy="165734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7667433" y="4914900"/>
            <a:ext cx="1076298" cy="380999"/>
          </a:xfrm>
          <a:prstGeom prst="roundRect">
            <a:avLst>
              <a:gd name="adj" fmla="val 4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781730" y="4991100"/>
            <a:ext cx="84770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1D4ED8"/>
                </a:solidFill>
                <a:latin typeface="Poppins"/>
              </a:rPr>
              <a:t>Processing</a:t>
            </a:r>
          </a:p>
        </p:txBody>
      </p: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829454" y="5060632"/>
            <a:ext cx="228594" cy="165734"/>
          </a:xfrm>
          <a:prstGeom prst="rect">
            <a:avLst/>
          </a:prstGeom>
        </p:spPr>
      </p:pic>
      <p:sp>
        <p:nvSpPr>
          <p:cNvPr id="59" name="Rounded Rectangle 58"/>
          <p:cNvSpPr/>
          <p:nvPr/>
        </p:nvSpPr>
        <p:spPr>
          <a:xfrm>
            <a:off x="9143771" y="4914900"/>
            <a:ext cx="866753" cy="380999"/>
          </a:xfrm>
          <a:prstGeom prst="roundRect">
            <a:avLst>
              <a:gd name="adj" fmla="val 40000"/>
            </a:avLst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258068" y="4991100"/>
            <a:ext cx="63815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7E22CE"/>
                </a:solidFill>
                <a:latin typeface="Poppins"/>
              </a:rPr>
              <a:t>Shipped</a:t>
            </a:r>
          </a:p>
        </p:txBody>
      </p:sp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0096247" y="5060632"/>
            <a:ext cx="228594" cy="165734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10410564" y="4914900"/>
            <a:ext cx="962000" cy="380999"/>
          </a:xfrm>
          <a:prstGeom prst="roundRect">
            <a:avLst>
              <a:gd name="adj" fmla="val 40000"/>
            </a:avLst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524861" y="4991100"/>
            <a:ext cx="73340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15803D"/>
                </a:solidFill>
                <a:latin typeface="Poppins"/>
              </a:rPr>
              <a:t>Delivered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639" y="5486400"/>
            <a:ext cx="4971925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780"/>
              </a:spcBef>
              <a:spcAft>
                <a:spcPts val="0"/>
              </a:spcAft>
            </a:pPr>
            <a:r>
              <a:rPr sz="837" b="0">
                <a:solidFill>
                  <a:srgbClr val="4B5563"/>
                </a:solidFill>
                <a:latin typeface="Poppins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4B5563"/>
                </a:solidFill>
                <a:latin typeface="Poppins"/>
              </a:rPr>
              <a:t> Cancellation possible at any non-terminal state </a:t>
            </a:r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7191195" y="5535385"/>
            <a:ext cx="152396" cy="1306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52499"/>
          </a:xfrm>
          <a:prstGeom prst="rect">
            <a:avLst/>
          </a:prstGeom>
          <a:gradFill rotWithShape="1">
            <a:gsLst>
              <a:gs pos="0">
                <a:srgbClr val="1976D2"/>
              </a:gs>
              <a:gs pos="100000">
                <a:srgbClr val="1565C0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331404"/>
            <a:ext cx="342891" cy="2896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62020" y="190499"/>
            <a:ext cx="6591135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Poppins"/>
              </a:rPr>
              <a:t>Implementation: Customer Portal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81750" y="285750"/>
            <a:ext cx="2428814" cy="380999"/>
          </a:xfrm>
          <a:prstGeom prst="roundRect">
            <a:avLst>
              <a:gd name="adj" fmla="val 49995000"/>
            </a:avLst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89625" y="303985"/>
            <a:ext cx="2273315" cy="29899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>
                <a:solidFill>
                  <a:srgbClr val="FFFFFF"/>
                </a:solidFill>
                <a:latin typeface="Poppins"/>
              </a:rPr>
              <a:t>Presented by</a:t>
            </a:r>
            <a:r>
              <a:rPr lang="en-US" sz="956" b="0" dirty="0">
                <a:solidFill>
                  <a:srgbClr val="FFFFFF"/>
                </a:solidFill>
                <a:latin typeface="Poppins"/>
              </a:rPr>
              <a:t> Md. </a:t>
            </a:r>
            <a:r>
              <a:rPr lang="en-US" sz="956" b="0" dirty="0" err="1">
                <a:solidFill>
                  <a:srgbClr val="FFFFFF"/>
                </a:solidFill>
                <a:latin typeface="Poppins"/>
              </a:rPr>
              <a:t>Ajmine</a:t>
            </a:r>
            <a:r>
              <a:rPr lang="en-US" sz="956" b="0" dirty="0">
                <a:solidFill>
                  <a:srgbClr val="FFFFFF"/>
                </a:solidFill>
                <a:latin typeface="Poppins"/>
              </a:rPr>
              <a:t> Adil </a:t>
            </a:r>
            <a:r>
              <a:rPr lang="en-US" sz="956" b="0" dirty="0" err="1">
                <a:solidFill>
                  <a:srgbClr val="FFFFFF"/>
                </a:solidFill>
                <a:latin typeface="Poppins"/>
              </a:rPr>
              <a:t>Sadik</a:t>
            </a:r>
            <a:endParaRPr sz="956" b="0" dirty="0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66733" y="1295399"/>
            <a:ext cx="38099" cy="3048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9129" y="1257300"/>
            <a:ext cx="2876478" cy="3714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1554" b="1">
                <a:solidFill>
                  <a:srgbClr val="1F2937"/>
                </a:solidFill>
                <a:latin typeface="Poppins"/>
              </a:rPr>
              <a:t>Browse &amp; Buy Products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9129" y="1743075"/>
            <a:ext cx="2876478" cy="45720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3426" y="1896035"/>
            <a:ext cx="190495" cy="15127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00119" y="1857375"/>
            <a:ext cx="128584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>
                <a:solidFill>
                  <a:srgbClr val="374151"/>
                </a:solidFill>
                <a:latin typeface="Poppins"/>
              </a:rPr>
              <a:t>View All Products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71805" y="1743075"/>
            <a:ext cx="2876478" cy="45720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86102" y="1897436"/>
            <a:ext cx="190495" cy="14847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52796" y="1857375"/>
            <a:ext cx="204782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>
                <a:solidFill>
                  <a:srgbClr val="374151"/>
                </a:solidFill>
                <a:latin typeface="Poppins"/>
              </a:rPr>
              <a:t>Search by Name/Category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6733" y="2457450"/>
            <a:ext cx="38099" cy="3048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9129" y="2428875"/>
            <a:ext cx="2828854" cy="3714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1554" b="1">
                <a:solidFill>
                  <a:srgbClr val="1F2937"/>
                </a:solidFill>
                <a:latin typeface="Poppins"/>
              </a:rPr>
              <a:t>Shopping Cart System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129" y="2914650"/>
            <a:ext cx="2876478" cy="6858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33426" y="3176307"/>
            <a:ext cx="190495" cy="16248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200119" y="3028950"/>
            <a:ext cx="2381190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>
                <a:solidFill>
                  <a:srgbClr val="374151"/>
                </a:solidFill>
                <a:latin typeface="Poppins"/>
              </a:rPr>
              <a:t>Add Items with Stock Validation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71805" y="2914650"/>
            <a:ext cx="2876478" cy="6858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86102" y="3181910"/>
            <a:ext cx="190495" cy="15127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152796" y="3143250"/>
            <a:ext cx="138109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374151"/>
                </a:solidFill>
                <a:latin typeface="Poppins"/>
              </a:rPr>
              <a:t>Update Quantities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129" y="3676649"/>
            <a:ext cx="2876478" cy="45720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33426" y="3829610"/>
            <a:ext cx="190495" cy="15127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200119" y="3790949"/>
            <a:ext cx="108582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374151"/>
                </a:solidFill>
                <a:latin typeface="Poppins"/>
              </a:rPr>
              <a:t>Remove Items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71805" y="3676649"/>
            <a:ext cx="2876478" cy="45720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886102" y="3829610"/>
            <a:ext cx="190495" cy="15127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152796" y="3790949"/>
            <a:ext cx="208592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374151"/>
                </a:solidFill>
                <a:latin typeface="Poppins"/>
              </a:rPr>
              <a:t>Real-time Total Calculation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6733" y="4391025"/>
            <a:ext cx="38099" cy="2286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1030" y="4362450"/>
            <a:ext cx="1733506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1F2937"/>
                </a:solidFill>
                <a:latin typeface="Poppins"/>
              </a:rPr>
              <a:t>Checkout Process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1030" y="4724399"/>
            <a:ext cx="2800279" cy="904874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95327" y="4893128"/>
            <a:ext cx="152396" cy="8164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85822" y="4838699"/>
            <a:ext cx="1590635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374151"/>
                </a:solidFill>
                <a:latin typeface="Poppins"/>
              </a:rPr>
              <a:t>Order Summary Display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95327" y="5140778"/>
            <a:ext cx="152396" cy="8164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85822" y="5076825"/>
            <a:ext cx="1476338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374151"/>
                </a:solidFill>
                <a:latin typeface="Poppins"/>
              </a:rPr>
              <a:t>Customer Information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95327" y="5369378"/>
            <a:ext cx="152396" cy="8164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85822" y="5314950"/>
            <a:ext cx="1295367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374151"/>
                </a:solidFill>
                <a:latin typeface="Poppins"/>
              </a:rPr>
              <a:t>Order Confirmation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33706" y="4391025"/>
            <a:ext cx="38099" cy="2286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848003" y="4362450"/>
            <a:ext cx="1447763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1F2937"/>
                </a:solidFill>
                <a:latin typeface="Poppins"/>
              </a:rPr>
              <a:t>Order Tracking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48003" y="4724399"/>
            <a:ext cx="2800279" cy="904874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962300" y="4893128"/>
            <a:ext cx="152396" cy="8164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152796" y="4838699"/>
            <a:ext cx="1219169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374151"/>
                </a:solidFill>
                <a:latin typeface="Poppins"/>
              </a:rPr>
              <a:t>View Order History</a:t>
            </a:r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962300" y="5140778"/>
            <a:ext cx="152396" cy="8164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52796" y="5076825"/>
            <a:ext cx="1781130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374151"/>
                </a:solidFill>
                <a:latin typeface="Poppins"/>
              </a:rPr>
              <a:t>Detailed Order Information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962300" y="5369378"/>
            <a:ext cx="152396" cy="8164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4152796" y="5314950"/>
            <a:ext cx="962000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374151"/>
                </a:solidFill>
                <a:latin typeface="Poppins"/>
              </a:rPr>
              <a:t>Cancel Orders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33845" y="2379345"/>
            <a:ext cx="4209944" cy="1828800"/>
          </a:xfrm>
          <a:prstGeom prst="roundRect">
            <a:avLst>
              <a:gd name="adj" fmla="val 12500"/>
            </a:avLst>
          </a:prstGeom>
          <a:solidFill>
            <a:srgbClr val="1E1E1E"/>
          </a:solidFill>
          <a:ln w="8255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hlinkClick r:id="rId10"/>
            </a:endParaRPr>
          </a:p>
          <a:p>
            <a:pPr algn="ctr"/>
            <a:r>
              <a:rPr lang="en-US" dirty="0">
                <a:hlinkClick r:id="rId10"/>
              </a:rPr>
              <a:t>https://github.com/Naim-006/Ecommerce-and-inventory-management-system---c-</a:t>
            </a:r>
            <a:endParaRPr dirty="0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476938" y="2642234"/>
            <a:ext cx="228594" cy="125729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781730" y="2590799"/>
            <a:ext cx="158111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Poppins"/>
              </a:rPr>
              <a:t>Key Implementation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10564" y="2571750"/>
            <a:ext cx="952476" cy="247649"/>
          </a:xfrm>
          <a:prstGeom prst="roundRect">
            <a:avLst>
              <a:gd name="adj" fmla="val 30769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0410564" y="2571750"/>
            <a:ext cx="952476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 dirty="0" err="1">
                <a:solidFill>
                  <a:srgbClr val="FFFFFF"/>
                </a:solidFill>
                <a:latin typeface="Poppins"/>
              </a:rPr>
              <a:t>addToCart</a:t>
            </a:r>
            <a:r>
              <a:rPr sz="717" b="0" dirty="0">
                <a:solidFill>
                  <a:srgbClr val="FFFFFF"/>
                </a:solidFill>
                <a:latin typeface="Poppins"/>
              </a:rPr>
              <a:t>()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017" y="4400550"/>
            <a:ext cx="4209944" cy="100012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651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8477038" y="4572000"/>
            <a:ext cx="1876378" cy="380999"/>
          </a:xfrm>
          <a:prstGeom prst="roundRect">
            <a:avLst>
              <a:gd name="adj" fmla="val 40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629434" y="4659630"/>
            <a:ext cx="228594" cy="20573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8934226" y="4648200"/>
            <a:ext cx="126679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1F2937"/>
                </a:solidFill>
                <a:latin typeface="Poppins"/>
              </a:rPr>
              <a:t>Stock Validation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86462" y="5029200"/>
            <a:ext cx="3867053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520"/>
              </a:spcBef>
              <a:spcAft>
                <a:spcPts val="0"/>
              </a:spcAft>
            </a:pPr>
            <a:r>
              <a:rPr sz="837" b="0">
                <a:solidFill>
                  <a:srgbClr val="4B5563"/>
                </a:solidFill>
                <a:latin typeface="Poppins"/>
              </a:rPr>
              <a:t>Real-time inventory check prevents overselling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343228"/>
            <a:ext cx="342891" cy="2660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62020" y="190499"/>
            <a:ext cx="5943451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Poppins"/>
              </a:rPr>
              <a:t>Implementation: Admin Portal</a:t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3574D244-747C-47B3-AE60-DDA92C4BE2EE}"/>
              </a:ext>
            </a:extLst>
          </p:cNvPr>
          <p:cNvGrpSpPr/>
          <p:nvPr/>
        </p:nvGrpSpPr>
        <p:grpSpPr>
          <a:xfrm>
            <a:off x="0" y="0"/>
            <a:ext cx="12191695" cy="952499"/>
            <a:chOff x="0" y="0"/>
            <a:chExt cx="12191695" cy="952499"/>
          </a:xfrm>
        </p:grpSpPr>
        <p:sp>
          <p:nvSpPr>
            <p:cNvPr id="2" name="Rectangle 1"/>
            <p:cNvSpPr/>
            <p:nvPr/>
          </p:nvSpPr>
          <p:spPr>
            <a:xfrm>
              <a:off x="0" y="0"/>
              <a:ext cx="12191695" cy="952499"/>
            </a:xfrm>
            <a:prstGeom prst="rect">
              <a:avLst/>
            </a:prstGeom>
            <a:gradFill rotWithShape="1">
              <a:gsLst>
                <a:gs pos="0">
                  <a:srgbClr val="1976D2"/>
                </a:gs>
                <a:gs pos="100000">
                  <a:srgbClr val="1565C0"/>
                </a:gs>
              </a:gsLst>
              <a:lin ang="10800000" scaled="0"/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745437" y="341573"/>
              <a:ext cx="2571685" cy="380999"/>
            </a:xfrm>
            <a:prstGeom prst="roundRect">
              <a:avLst>
                <a:gd name="adj" fmla="val 49995000"/>
              </a:avLst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174067" y="367756"/>
              <a:ext cx="1821268" cy="298993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6" b="0" dirty="0">
                  <a:solidFill>
                    <a:srgbClr val="FFFFFF"/>
                  </a:solidFill>
                  <a:latin typeface="Poppins"/>
                </a:rPr>
                <a:t>Presented by </a:t>
              </a:r>
              <a:r>
                <a:rPr lang="en-US" sz="956" dirty="0" err="1">
                  <a:solidFill>
                    <a:srgbClr val="FFFFFF"/>
                  </a:solidFill>
                  <a:latin typeface="Poppins"/>
                </a:rPr>
                <a:t>Naim</a:t>
              </a:r>
              <a:r>
                <a:rPr lang="en-US" sz="956" dirty="0">
                  <a:solidFill>
                    <a:srgbClr val="FFFFFF"/>
                  </a:solidFill>
                  <a:latin typeface="Poppins"/>
                </a:rPr>
                <a:t> Hossain</a:t>
              </a:r>
              <a:endParaRPr sz="956" b="0" dirty="0">
                <a:solidFill>
                  <a:srgbClr val="FFFFFF"/>
                </a:solidFill>
                <a:latin typeface="Poppins"/>
              </a:endParaRPr>
            </a:p>
          </p:txBody>
        </p:sp>
      </p:grpSp>
      <p:sp>
        <p:nvSpPr>
          <p:cNvPr id="7" name="Rectangle 6"/>
          <p:cNvSpPr/>
          <p:nvPr/>
        </p:nvSpPr>
        <p:spPr>
          <a:xfrm>
            <a:off x="666733" y="1295399"/>
            <a:ext cx="38099" cy="3048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9129" y="1257300"/>
            <a:ext cx="2762180" cy="3714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1554" b="1">
                <a:solidFill>
                  <a:srgbClr val="1F2937"/>
                </a:solidFill>
                <a:latin typeface="Poppins"/>
              </a:rPr>
              <a:t>Product Management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9129" y="1743075"/>
            <a:ext cx="2876478" cy="45720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3426" y="1896035"/>
            <a:ext cx="190495" cy="15127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00119" y="1857375"/>
            <a:ext cx="139061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374151"/>
                </a:solidFill>
                <a:latin typeface="Poppins"/>
              </a:rPr>
              <a:t>Add New Products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71805" y="1743075"/>
            <a:ext cx="2876478" cy="45720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86102" y="1910042"/>
            <a:ext cx="190495" cy="1232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52796" y="1857375"/>
            <a:ext cx="110487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374151"/>
                </a:solidFill>
                <a:latin typeface="Poppins"/>
              </a:rPr>
              <a:t>View Inventory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129" y="2276474"/>
            <a:ext cx="2876478" cy="45720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33426" y="2429435"/>
            <a:ext cx="190495" cy="15127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00119" y="2390774"/>
            <a:ext cx="145728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374151"/>
                </a:solidFill>
                <a:latin typeface="Poppins"/>
              </a:rPr>
              <a:t>Update Stock/Price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71805" y="2276474"/>
            <a:ext cx="2876478" cy="45720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86102" y="2429435"/>
            <a:ext cx="190495" cy="15127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52796" y="2390774"/>
            <a:ext cx="120011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374151"/>
                </a:solidFill>
                <a:latin typeface="Poppins"/>
              </a:rPr>
              <a:t>Delete Products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6733" y="2990849"/>
            <a:ext cx="38099" cy="3048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9129" y="2962274"/>
            <a:ext cx="2485962" cy="3714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1554" b="1">
                <a:solidFill>
                  <a:srgbClr val="1F2937"/>
                </a:solidFill>
                <a:latin typeface="Poppins"/>
              </a:rPr>
              <a:t>Order Management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129" y="3448049"/>
            <a:ext cx="2876478" cy="45720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33426" y="3591205"/>
            <a:ext cx="190495" cy="17088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200119" y="3562349"/>
            <a:ext cx="219069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374151"/>
                </a:solidFill>
                <a:latin typeface="Poppins"/>
              </a:rPr>
              <a:t>Create Orders for Customers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71805" y="3448049"/>
            <a:ext cx="2876478" cy="45720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886102" y="3595407"/>
            <a:ext cx="190495" cy="16248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152796" y="3562349"/>
            <a:ext cx="113344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374151"/>
                </a:solidFill>
                <a:latin typeface="Poppins"/>
              </a:rPr>
              <a:t>View All Orders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9129" y="3981449"/>
            <a:ext cx="2876478" cy="45720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933426" y="4135811"/>
            <a:ext cx="190495" cy="14847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00119" y="4095749"/>
            <a:ext cx="206687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374151"/>
                </a:solidFill>
                <a:latin typeface="Poppins"/>
              </a:rPr>
              <a:t>Search by Customer Name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71805" y="3981449"/>
            <a:ext cx="2876478" cy="45720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3886102" y="4134410"/>
            <a:ext cx="190495" cy="15127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152796" y="4095749"/>
            <a:ext cx="155253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374151"/>
                </a:solidFill>
                <a:latin typeface="Poppins"/>
              </a:rPr>
              <a:t>Update Order Status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6733" y="4695824"/>
            <a:ext cx="38099" cy="2286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81030" y="4667249"/>
            <a:ext cx="1447763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1F2937"/>
                </a:solidFill>
                <a:latin typeface="Poppins"/>
              </a:rPr>
              <a:t>Authentication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1030" y="5029200"/>
            <a:ext cx="2800279" cy="904874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895327" y="5197928"/>
            <a:ext cx="152396" cy="8164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085822" y="5143500"/>
            <a:ext cx="1352516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374151"/>
                </a:solidFill>
                <a:latin typeface="Poppins"/>
              </a:rPr>
              <a:t>Outlet ID Verification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895327" y="5445578"/>
            <a:ext cx="152396" cy="8164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5822" y="5381624"/>
            <a:ext cx="1523961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374151"/>
                </a:solidFill>
                <a:latin typeface="Poppins"/>
              </a:rPr>
              <a:t>6-digit OTP Generation</a:t>
            </a:r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895327" y="5674178"/>
            <a:ext cx="152396" cy="8164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5822" y="5619750"/>
            <a:ext cx="1266793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374151"/>
                </a:solidFill>
                <a:latin typeface="Poppins"/>
              </a:rPr>
              <a:t>3-attempt Security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33706" y="4695824"/>
            <a:ext cx="38099" cy="2286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848003" y="4667249"/>
            <a:ext cx="1638259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1F2937"/>
                </a:solidFill>
                <a:latin typeface="Poppins"/>
              </a:rPr>
              <a:t>Data Persistence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848003" y="5029200"/>
            <a:ext cx="2800279" cy="904874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3962300" y="5197928"/>
            <a:ext cx="152396" cy="8164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4152796" y="5143500"/>
            <a:ext cx="1276318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374151"/>
                </a:solidFill>
                <a:latin typeface="Poppins"/>
              </a:rPr>
              <a:t>File-based Storage</a:t>
            </a: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3962300" y="5445578"/>
            <a:ext cx="152396" cy="8164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152796" y="5381624"/>
            <a:ext cx="1628734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374151"/>
                </a:solidFill>
                <a:latin typeface="Poppins"/>
              </a:rPr>
              <a:t>Automatic Data Loading</a:t>
            </a:r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3962300" y="5674178"/>
            <a:ext cx="152396" cy="8164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152796" y="5619750"/>
            <a:ext cx="1590635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374151"/>
                </a:solidFill>
                <a:latin typeface="Poppins"/>
              </a:rPr>
              <a:t>Cross-platform Support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15017" y="2314575"/>
            <a:ext cx="4209944" cy="1828800"/>
          </a:xfrm>
          <a:prstGeom prst="roundRect">
            <a:avLst>
              <a:gd name="adj" fmla="val 12500"/>
            </a:avLst>
          </a:prstGeom>
          <a:solidFill>
            <a:srgbClr val="1E1E1E"/>
          </a:solidFill>
          <a:ln w="8255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hlinkClick r:id="rId12"/>
            </a:endParaRPr>
          </a:p>
          <a:p>
            <a:pPr algn="ctr"/>
            <a:r>
              <a:rPr lang="en-US" dirty="0">
                <a:hlinkClick r:id="rId12"/>
              </a:rPr>
              <a:t>https://github.com/Naim-006/Ecommerce-and-inventory-management-system---c-</a:t>
            </a:r>
            <a:endParaRPr dirty="0"/>
          </a:p>
        </p:txBody>
      </p:sp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7476938" y="2537459"/>
            <a:ext cx="228594" cy="12572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781730" y="2486025"/>
            <a:ext cx="144776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Poppins"/>
              </a:rPr>
              <a:t>Admin Verification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353416" y="2476499"/>
            <a:ext cx="1009624" cy="247649"/>
          </a:xfrm>
          <a:prstGeom prst="roundRect">
            <a:avLst>
              <a:gd name="adj" fmla="val 30769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0353416" y="2476499"/>
            <a:ext cx="1009624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FFFFFF"/>
                </a:solidFill>
                <a:latin typeface="Poppins"/>
              </a:rPr>
              <a:t>verifyAdmin()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15017" y="4295774"/>
            <a:ext cx="4209944" cy="1200150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1651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8448463" y="4467224"/>
            <a:ext cx="1943051" cy="380999"/>
          </a:xfrm>
          <a:prstGeom prst="roundRect">
            <a:avLst>
              <a:gd name="adj" fmla="val 40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8600859" y="4560570"/>
            <a:ext cx="228594" cy="194309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8905652" y="4543425"/>
            <a:ext cx="133346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1F2937"/>
                </a:solidFill>
                <a:latin typeface="Poppins"/>
              </a:rPr>
              <a:t>CRUD Operations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86462" y="4924424"/>
            <a:ext cx="3867053" cy="4000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520"/>
              </a:spcBef>
              <a:spcAft>
                <a:spcPts val="0"/>
              </a:spcAft>
            </a:pPr>
            <a:r>
              <a:rPr sz="837" b="0">
                <a:solidFill>
                  <a:srgbClr val="4B5563"/>
                </a:solidFill>
                <a:latin typeface="Poppins"/>
              </a:rPr>
              <a:t>Complete product lifecycle management with real-time updates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6869E09-8497-4A3E-839B-5740E699530E}"/>
              </a:ext>
            </a:extLst>
          </p:cNvPr>
          <p:cNvSpPr txBox="1"/>
          <p:nvPr/>
        </p:nvSpPr>
        <p:spPr>
          <a:xfrm>
            <a:off x="1162020" y="190369"/>
            <a:ext cx="4937506" cy="57176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 dirty="0">
                <a:solidFill>
                  <a:srgbClr val="FFFFFF"/>
                </a:solidFill>
                <a:latin typeface="Poppins"/>
              </a:rPr>
              <a:t>Implementation: </a:t>
            </a:r>
            <a:r>
              <a:rPr lang="en-US" sz="2392" b="1" dirty="0">
                <a:solidFill>
                  <a:srgbClr val="FFFFFF"/>
                </a:solidFill>
                <a:latin typeface="Poppins"/>
              </a:rPr>
              <a:t>Admin</a:t>
            </a:r>
            <a:r>
              <a:rPr sz="2392" b="1" dirty="0">
                <a:solidFill>
                  <a:srgbClr val="FFFFFF"/>
                </a:solidFill>
                <a:latin typeface="Poppins"/>
              </a:rPr>
              <a:t> Portal</a:t>
            </a:r>
          </a:p>
        </p:txBody>
      </p:sp>
      <p:pic>
        <p:nvPicPr>
          <p:cNvPr id="65" name="Picture 64" descr="image.png">
            <a:extLst>
              <a:ext uri="{FF2B5EF4-FFF2-40B4-BE49-F238E27FC236}">
                <a16:creationId xmlns:a16="http://schemas.microsoft.com/office/drawing/2014/main" id="{898575E0-77B9-48BE-AE8F-D0373AA0E63A}"/>
              </a:ext>
            </a:extLst>
          </p:cNvPr>
          <p:cNvPicPr>
            <a:picLocks noChangeAspect="1"/>
          </p:cNvPicPr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628634" y="377058"/>
            <a:ext cx="342891" cy="28969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52499"/>
          </a:xfrm>
          <a:prstGeom prst="rect">
            <a:avLst/>
          </a:prstGeom>
          <a:gradFill rotWithShape="1">
            <a:gsLst>
              <a:gs pos="0">
                <a:srgbClr val="1976D2"/>
              </a:gs>
              <a:gs pos="100000">
                <a:srgbClr val="1565C0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355052"/>
            <a:ext cx="342891" cy="2423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62020" y="190499"/>
            <a:ext cx="7810304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Poppins"/>
              </a:rPr>
              <a:t>System Testing &amp; Performance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66733" y="1466849"/>
            <a:ext cx="38099" cy="3048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19129" y="1428750"/>
            <a:ext cx="2409764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>
                <a:solidFill>
                  <a:srgbClr val="1F2937"/>
                </a:solidFill>
                <a:latin typeface="Poppins"/>
              </a:rPr>
              <a:t>Testing Approach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84F73E5-AFF1-46ED-826A-DAA3A9ACC47F}"/>
              </a:ext>
            </a:extLst>
          </p:cNvPr>
          <p:cNvGrpSpPr/>
          <p:nvPr/>
        </p:nvGrpSpPr>
        <p:grpSpPr>
          <a:xfrm>
            <a:off x="600061" y="2143124"/>
            <a:ext cx="4609984" cy="3200400"/>
            <a:chOff x="819129" y="3181349"/>
            <a:chExt cx="4609984" cy="3200400"/>
          </a:xfrm>
        </p:grpSpPr>
        <p:sp>
          <p:nvSpPr>
            <p:cNvPr id="14" name="Rounded Rectangle 13"/>
            <p:cNvSpPr/>
            <p:nvPr/>
          </p:nvSpPr>
          <p:spPr>
            <a:xfrm>
              <a:off x="819129" y="3181350"/>
              <a:ext cx="4609984" cy="1057275"/>
            </a:xfrm>
            <a:prstGeom prst="roundRect">
              <a:avLst>
                <a:gd name="adj" fmla="val 14414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ound Same Side Corner Rectangle 14"/>
            <p:cNvSpPr/>
            <p:nvPr/>
          </p:nvSpPr>
          <p:spPr>
            <a:xfrm rot="16200000">
              <a:off x="356532" y="3643947"/>
              <a:ext cx="1057275" cy="13208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42A5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6" name="Picture 15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009624" y="3388042"/>
              <a:ext cx="228594" cy="177164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1352516" y="3352800"/>
              <a:ext cx="1400139" cy="257175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75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1">
                  <a:solidFill>
                    <a:srgbClr val="1F2937"/>
                  </a:solidFill>
                  <a:latin typeface="Poppins"/>
                </a:rPr>
                <a:t>Input Validation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4419489" y="3333749"/>
              <a:ext cx="857228" cy="276225"/>
            </a:xfrm>
            <a:prstGeom prst="roundRect">
              <a:avLst>
                <a:gd name="adj" fmla="val 68958620"/>
              </a:avLst>
            </a:prstGeom>
            <a:solidFill>
              <a:srgbClr val="DCFCE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419489" y="3333749"/>
              <a:ext cx="857228" cy="276225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3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37" b="1">
                  <a:solidFill>
                    <a:srgbClr val="15803D"/>
                  </a:solidFill>
                  <a:latin typeface="Poppins"/>
                </a:rPr>
                <a:t>✓ Passed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52516" y="3695699"/>
              <a:ext cx="3924201" cy="400050"/>
            </a:xfrm>
            <a:prstGeom prst="rect">
              <a:avLst/>
            </a:prstGeom>
            <a:noFill/>
          </p:spPr>
          <p:txBody>
            <a:bodyPr wrap="square" lIns="73152" tIns="54864" rIns="73152" bIns="54864" anchor="ctr">
              <a:spAutoFit/>
            </a:bodyPr>
            <a:lstStyle/>
            <a:p>
              <a:pPr algn="l">
                <a:lnSpc>
                  <a:spcPts val="1365"/>
                </a:lnSpc>
                <a:spcBef>
                  <a:spcPts val="520"/>
                </a:spcBef>
                <a:spcAft>
                  <a:spcPts val="0"/>
                </a:spcAft>
              </a:pPr>
              <a:r>
                <a:rPr sz="837" b="0">
                  <a:solidFill>
                    <a:srgbClr val="4B5563"/>
                  </a:solidFill>
                  <a:latin typeface="Poppins"/>
                </a:rPr>
                <a:t>Non-numeric input, out-of-range values, malformed decimals, empty strings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819129" y="4362450"/>
              <a:ext cx="4609984" cy="1057275"/>
            </a:xfrm>
            <a:prstGeom prst="roundRect">
              <a:avLst>
                <a:gd name="adj" fmla="val 14414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Round Same Side Corner Rectangle 21"/>
            <p:cNvSpPr/>
            <p:nvPr/>
          </p:nvSpPr>
          <p:spPr>
            <a:xfrm rot="16200000">
              <a:off x="356532" y="4825047"/>
              <a:ext cx="1057275" cy="13208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42A5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23" name="Picture 22" descr="image.png"/>
            <p:cNvPicPr>
              <a:picLocks noChangeAspect="1"/>
            </p:cNvPicPr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009624" y="4539615"/>
              <a:ext cx="228594" cy="217170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1352516" y="4514850"/>
              <a:ext cx="1400139" cy="257175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75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1">
                  <a:solidFill>
                    <a:srgbClr val="1F2937"/>
                  </a:solidFill>
                  <a:latin typeface="Poppins"/>
                </a:rPr>
                <a:t>Security Testing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4419489" y="4514850"/>
              <a:ext cx="857228" cy="276225"/>
            </a:xfrm>
            <a:prstGeom prst="roundRect">
              <a:avLst>
                <a:gd name="adj" fmla="val 68958620"/>
              </a:avLst>
            </a:prstGeom>
            <a:solidFill>
              <a:srgbClr val="DCFCE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419489" y="4514850"/>
              <a:ext cx="857228" cy="276225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3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37" b="1">
                  <a:solidFill>
                    <a:srgbClr val="15803D"/>
                  </a:solidFill>
                  <a:latin typeface="Poppins"/>
                </a:rPr>
                <a:t>✓ Passed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352516" y="4857750"/>
              <a:ext cx="3924201" cy="400050"/>
            </a:xfrm>
            <a:prstGeom prst="rect">
              <a:avLst/>
            </a:prstGeom>
            <a:noFill/>
          </p:spPr>
          <p:txBody>
            <a:bodyPr wrap="square" lIns="73152" tIns="54864" rIns="73152" bIns="54864" anchor="ctr">
              <a:spAutoFit/>
            </a:bodyPr>
            <a:lstStyle/>
            <a:p>
              <a:pPr algn="l">
                <a:lnSpc>
                  <a:spcPts val="1365"/>
                </a:lnSpc>
                <a:spcBef>
                  <a:spcPts val="520"/>
                </a:spcBef>
                <a:spcAft>
                  <a:spcPts val="0"/>
                </a:spcAft>
              </a:pPr>
              <a:r>
                <a:rPr sz="837" b="0">
                  <a:solidFill>
                    <a:srgbClr val="4B5563"/>
                  </a:solidFill>
                  <a:latin typeface="Poppins"/>
                </a:rPr>
                <a:t>OTP attempt limits, invalid outlet ID rejection, access control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819129" y="5524499"/>
              <a:ext cx="4609984" cy="857250"/>
            </a:xfrm>
            <a:prstGeom prst="roundRect">
              <a:avLst>
                <a:gd name="adj" fmla="val 17777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Round Same Side Corner Rectangle 28"/>
            <p:cNvSpPr/>
            <p:nvPr/>
          </p:nvSpPr>
          <p:spPr>
            <a:xfrm rot="16200000">
              <a:off x="456544" y="5887084"/>
              <a:ext cx="857250" cy="13208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42A5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30" name="Picture 29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1009624" y="5731192"/>
              <a:ext cx="228594" cy="177164"/>
            </a:xfrm>
            <a:prstGeom prst="rect">
              <a:avLst/>
            </a:prstGeom>
          </p:spPr>
        </p:pic>
        <p:sp>
          <p:nvSpPr>
            <p:cNvPr id="31" name="TextBox 30"/>
            <p:cNvSpPr txBox="1"/>
            <p:nvPr/>
          </p:nvSpPr>
          <p:spPr>
            <a:xfrm>
              <a:off x="1352516" y="5695949"/>
              <a:ext cx="1009624" cy="257175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75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1">
                  <a:solidFill>
                    <a:srgbClr val="1F2937"/>
                  </a:solidFill>
                  <a:latin typeface="Poppins"/>
                </a:rPr>
                <a:t>Edge Cases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4419489" y="5676900"/>
              <a:ext cx="857228" cy="276225"/>
            </a:xfrm>
            <a:prstGeom prst="roundRect">
              <a:avLst>
                <a:gd name="adj" fmla="val 68958620"/>
              </a:avLst>
            </a:prstGeom>
            <a:solidFill>
              <a:srgbClr val="DCFCE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4419489" y="5676900"/>
              <a:ext cx="857228" cy="276225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3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37" b="1">
                  <a:solidFill>
                    <a:srgbClr val="15803D"/>
                  </a:solidFill>
                  <a:latin typeface="Poppins"/>
                </a:rPr>
                <a:t>✓ Passed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352516" y="6038849"/>
              <a:ext cx="3924201" cy="200025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365"/>
                </a:lnSpc>
                <a:spcBef>
                  <a:spcPts val="520"/>
                </a:spcBef>
                <a:spcAft>
                  <a:spcPts val="0"/>
                </a:spcAft>
              </a:pPr>
              <a:r>
                <a:rPr sz="837" b="0">
                  <a:solidFill>
                    <a:srgbClr val="4B5563"/>
                  </a:solidFill>
                  <a:latin typeface="Poppins"/>
                </a:rPr>
                <a:t>Max quantities, long names, empty cart, order cancellation</a:t>
              </a:r>
            </a:p>
          </p:txBody>
        </p:sp>
      </p:grpSp>
      <p:sp>
        <p:nvSpPr>
          <p:cNvPr id="35" name="Rectangle 34"/>
          <p:cNvSpPr/>
          <p:nvPr/>
        </p:nvSpPr>
        <p:spPr>
          <a:xfrm>
            <a:off x="6095847" y="2057400"/>
            <a:ext cx="38099" cy="3048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248243" y="2019299"/>
            <a:ext cx="2828854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>
                <a:solidFill>
                  <a:srgbClr val="1F2937"/>
                </a:solidFill>
                <a:latin typeface="Poppins"/>
              </a:rPr>
              <a:t>Performance Metrics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243" y="2609850"/>
            <a:ext cx="5276718" cy="2314575"/>
          </a:xfrm>
          <a:prstGeom prst="roundRect">
            <a:avLst>
              <a:gd name="adj" fmla="val 6584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1C40FCF-EC57-4AAE-8933-5880C18AA590}"/>
              </a:ext>
            </a:extLst>
          </p:cNvPr>
          <p:cNvGrpSpPr/>
          <p:nvPr/>
        </p:nvGrpSpPr>
        <p:grpSpPr>
          <a:xfrm>
            <a:off x="6449869" y="2928937"/>
            <a:ext cx="2581210" cy="685800"/>
            <a:chOff x="6248243" y="5105400"/>
            <a:chExt cx="2581210" cy="685800"/>
          </a:xfrm>
        </p:grpSpPr>
        <p:sp>
          <p:nvSpPr>
            <p:cNvPr id="38" name="Rounded Rectangle 37"/>
            <p:cNvSpPr/>
            <p:nvPr/>
          </p:nvSpPr>
          <p:spPr>
            <a:xfrm>
              <a:off x="6248243" y="5105400"/>
              <a:ext cx="2581210" cy="685800"/>
            </a:xfrm>
            <a:prstGeom prst="roundRect">
              <a:avLst>
                <a:gd name="adj" fmla="val 22222"/>
              </a:avLst>
            </a:prstGeom>
            <a:gradFill rotWithShape="1">
              <a:gsLst>
                <a:gs pos="0">
                  <a:srgbClr val="EFF6FF"/>
                </a:gs>
                <a:gs pos="100000">
                  <a:srgbClr val="FFFFFF"/>
                </a:gs>
              </a:gsLst>
              <a:lin ang="8100000" scaled="0"/>
            </a:gradFill>
            <a:ln w="8255">
              <a:solidFill>
                <a:srgbClr val="42A5F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39" name="Picture 38" descr="image.png"/>
            <p:cNvPicPr>
              <a:picLocks noChangeAspect="1"/>
            </p:cNvPicPr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6372065" y="5274888"/>
              <a:ext cx="190495" cy="137272"/>
            </a:xfrm>
            <a:prstGeom prst="rect">
              <a:avLst/>
            </a:prstGeom>
          </p:spPr>
        </p:pic>
        <p:sp>
          <p:nvSpPr>
            <p:cNvPr id="40" name="TextBox 39"/>
            <p:cNvSpPr txBox="1"/>
            <p:nvPr/>
          </p:nvSpPr>
          <p:spPr>
            <a:xfrm>
              <a:off x="6638759" y="5238749"/>
              <a:ext cx="1152496" cy="21907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43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7" b="1">
                  <a:solidFill>
                    <a:srgbClr val="1F2937"/>
                  </a:solidFill>
                  <a:latin typeface="Poppins"/>
                </a:rPr>
                <a:t>Fast Operations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372065" y="5486400"/>
              <a:ext cx="2333566" cy="1904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23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77" b="0" dirty="0">
                  <a:solidFill>
                    <a:srgbClr val="4B5563"/>
                  </a:solidFill>
                  <a:latin typeface="Poppins"/>
                </a:rPr>
                <a:t>Sub-second save/load times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8ED5115-40C5-4436-A257-0D6B23AFBEF7}"/>
              </a:ext>
            </a:extLst>
          </p:cNvPr>
          <p:cNvGrpSpPr/>
          <p:nvPr/>
        </p:nvGrpSpPr>
        <p:grpSpPr>
          <a:xfrm>
            <a:off x="8661449" y="3926120"/>
            <a:ext cx="2581210" cy="685800"/>
            <a:chOff x="8943751" y="5105400"/>
            <a:chExt cx="2581210" cy="685800"/>
          </a:xfrm>
        </p:grpSpPr>
        <p:sp>
          <p:nvSpPr>
            <p:cNvPr id="42" name="Rounded Rectangle 41"/>
            <p:cNvSpPr/>
            <p:nvPr/>
          </p:nvSpPr>
          <p:spPr>
            <a:xfrm>
              <a:off x="8943751" y="5105400"/>
              <a:ext cx="2581210" cy="685800"/>
            </a:xfrm>
            <a:prstGeom prst="roundRect">
              <a:avLst>
                <a:gd name="adj" fmla="val 22222"/>
              </a:avLst>
            </a:prstGeom>
            <a:gradFill rotWithShape="1">
              <a:gsLst>
                <a:gs pos="0">
                  <a:srgbClr val="F0FDF4"/>
                </a:gs>
                <a:gs pos="100000">
                  <a:srgbClr val="FFFFFF"/>
                </a:gs>
              </a:gsLst>
              <a:lin ang="8100000" scaled="0"/>
            </a:gradFill>
            <a:ln w="8255">
              <a:solidFill>
                <a:srgbClr val="4ADE8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43" name="Picture 42" descr="image.png"/>
            <p:cNvPicPr>
              <a:picLocks noChangeAspect="1"/>
            </p:cNvPicPr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9067573" y="5267885"/>
              <a:ext cx="190495" cy="151279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9334266" y="5238749"/>
              <a:ext cx="1209644" cy="21907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43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7" b="1" dirty="0">
                  <a:solidFill>
                    <a:srgbClr val="1F2937"/>
                  </a:solidFill>
                  <a:latin typeface="Poppins"/>
                </a:rPr>
                <a:t>Efficient Memory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9067573" y="5486400"/>
              <a:ext cx="2333566" cy="1904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23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77" b="0" dirty="0">
                  <a:solidFill>
                    <a:srgbClr val="4B5563"/>
                  </a:solidFill>
                  <a:latin typeface="Poppins"/>
                </a:rPr>
                <a:t>Dynamic allocation used</a:t>
              </a:r>
            </a:p>
          </p:txBody>
        </p:sp>
      </p:grpSp>
      <p:sp>
        <p:nvSpPr>
          <p:cNvPr id="46" name="Rounded Rectangle 4">
            <a:extLst>
              <a:ext uri="{FF2B5EF4-FFF2-40B4-BE49-F238E27FC236}">
                <a16:creationId xmlns:a16="http://schemas.microsoft.com/office/drawing/2014/main" id="{B1A49599-FE9A-4808-B3CA-3D3F0DBA90F6}"/>
              </a:ext>
            </a:extLst>
          </p:cNvPr>
          <p:cNvSpPr/>
          <p:nvPr/>
        </p:nvSpPr>
        <p:spPr>
          <a:xfrm>
            <a:off x="7745437" y="341573"/>
            <a:ext cx="2571685" cy="380999"/>
          </a:xfrm>
          <a:prstGeom prst="roundRect">
            <a:avLst>
              <a:gd name="adj" fmla="val 49995000"/>
            </a:avLst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2A9770E-7797-4400-A76F-8A405B894C8C}"/>
              </a:ext>
            </a:extLst>
          </p:cNvPr>
          <p:cNvSpPr txBox="1"/>
          <p:nvPr/>
        </p:nvSpPr>
        <p:spPr>
          <a:xfrm>
            <a:off x="8174067" y="367756"/>
            <a:ext cx="1777987" cy="29899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>
                <a:solidFill>
                  <a:srgbClr val="FFFFFF"/>
                </a:solidFill>
                <a:latin typeface="Poppins"/>
              </a:rPr>
              <a:t>Presented by </a:t>
            </a:r>
            <a:r>
              <a:rPr lang="en-US" sz="956" b="0" dirty="0">
                <a:solidFill>
                  <a:srgbClr val="FFFFFF"/>
                </a:solidFill>
                <a:latin typeface="Poppins"/>
              </a:rPr>
              <a:t>Diya Bipasha</a:t>
            </a:r>
            <a:endParaRPr sz="956" b="0" dirty="0">
              <a:solidFill>
                <a:srgbClr val="FFFFFF"/>
              </a:solidFill>
              <a:latin typeface="Poppi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52499"/>
          </a:xfrm>
          <a:prstGeom prst="rect">
            <a:avLst/>
          </a:prstGeom>
          <a:gradFill rotWithShape="1">
            <a:gsLst>
              <a:gs pos="0">
                <a:srgbClr val="1976D2"/>
              </a:gs>
              <a:gs pos="100000">
                <a:srgbClr val="1565C0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332882"/>
            <a:ext cx="342891" cy="2867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62020" y="190499"/>
            <a:ext cx="5238619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Poppins"/>
              </a:rPr>
              <a:t>Future Scope &amp;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66733" y="1295399"/>
            <a:ext cx="38099" cy="3048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19129" y="1257300"/>
            <a:ext cx="2419289" cy="3714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1554" b="1" dirty="0">
                <a:solidFill>
                  <a:srgbClr val="1F2937"/>
                </a:solidFill>
                <a:latin typeface="Poppins"/>
              </a:rPr>
              <a:t>Current Limitations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9129" y="1743075"/>
            <a:ext cx="4609984" cy="6858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3426" y="1901638"/>
            <a:ext cx="190495" cy="1400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38219" y="1857375"/>
            <a:ext cx="4076598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>
                <a:solidFill>
                  <a:srgbClr val="374151"/>
                </a:solidFill>
                <a:latin typeface="Poppins"/>
              </a:rPr>
              <a:t>Console-based UI may not be intuitive for non-technical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129" y="2505074"/>
            <a:ext cx="4609984" cy="45720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3426" y="2658035"/>
            <a:ext cx="190495" cy="1512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38219" y="2619374"/>
            <a:ext cx="389562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374151"/>
                </a:solidFill>
                <a:latin typeface="Poppins"/>
              </a:rPr>
              <a:t>No network capability or online transaction support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129" y="3038475"/>
            <a:ext cx="4609984" cy="6858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33426" y="3192836"/>
            <a:ext cx="190495" cy="14847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238219" y="3152775"/>
            <a:ext cx="4076598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374151"/>
                </a:solidFill>
                <a:latin typeface="Poppins"/>
              </a:rPr>
              <a:t>Limited search functionality without advanced filtering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6733" y="3981449"/>
            <a:ext cx="38099" cy="3048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9129" y="3952874"/>
            <a:ext cx="2762180" cy="3714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1554" b="1">
                <a:solidFill>
                  <a:srgbClr val="1F2937"/>
                </a:solidFill>
                <a:latin typeface="Poppins"/>
              </a:rPr>
              <a:t>Future Enhancements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129" y="4438649"/>
            <a:ext cx="4609984" cy="657225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 Same Side Corner Rectangle 18"/>
          <p:cNvSpPr/>
          <p:nvPr/>
        </p:nvSpPr>
        <p:spPr>
          <a:xfrm rot="16200000">
            <a:off x="556557" y="4701221"/>
            <a:ext cx="65722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71525" y="4586007"/>
            <a:ext cx="190495" cy="16248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276318" y="4552949"/>
            <a:ext cx="1885902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1F2937"/>
                </a:solidFill>
                <a:latin typeface="Poppins"/>
              </a:rPr>
              <a:t>Graphical User Interface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6318" y="4781549"/>
            <a:ext cx="2952676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4B5563"/>
                </a:solidFill>
                <a:latin typeface="Poppins"/>
              </a:rPr>
              <a:t>Migration to GTK, Qt, or web-based interface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129" y="5172075"/>
            <a:ext cx="4609984" cy="657225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 Same Side Corner Rectangle 23"/>
          <p:cNvSpPr/>
          <p:nvPr/>
        </p:nvSpPr>
        <p:spPr>
          <a:xfrm rot="16200000">
            <a:off x="556557" y="5434647"/>
            <a:ext cx="65722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71525" y="5330638"/>
            <a:ext cx="190495" cy="14007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76318" y="5286375"/>
            <a:ext cx="1657308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 dirty="0">
                <a:solidFill>
                  <a:srgbClr val="1F2937"/>
                </a:solidFill>
                <a:latin typeface="Poppins"/>
              </a:rPr>
              <a:t>Database Integration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76318" y="5514975"/>
            <a:ext cx="2505012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4B5563"/>
                </a:solidFill>
                <a:latin typeface="Poppins"/>
              </a:rPr>
              <a:t>Replace text files with SQLite or MySQL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9129" y="5905500"/>
            <a:ext cx="4609984" cy="657225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 Same Side Corner Rectangle 28"/>
          <p:cNvSpPr/>
          <p:nvPr/>
        </p:nvSpPr>
        <p:spPr>
          <a:xfrm rot="16200000">
            <a:off x="556557" y="6168072"/>
            <a:ext cx="65722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971525" y="6052857"/>
            <a:ext cx="190495" cy="1624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76318" y="6019800"/>
            <a:ext cx="1571585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1F2937"/>
                </a:solidFill>
                <a:latin typeface="Poppins"/>
              </a:rPr>
              <a:t>Real OTP 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76318" y="6248400"/>
            <a:ext cx="3190795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4B5563"/>
                </a:solidFill>
                <a:latin typeface="Poppins"/>
              </a:rPr>
              <a:t>Connect with Twilio or Nexmo SMS gateway APIs</a:t>
            </a: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618A6589-1E96-4534-B850-F3D834EF0E07}"/>
              </a:ext>
            </a:extLst>
          </p:cNvPr>
          <p:cNvGrpSpPr/>
          <p:nvPr/>
        </p:nvGrpSpPr>
        <p:grpSpPr>
          <a:xfrm>
            <a:off x="6070365" y="1152523"/>
            <a:ext cx="4609984" cy="657226"/>
            <a:chOff x="819129" y="6638923"/>
            <a:chExt cx="4609984" cy="657226"/>
          </a:xfrm>
        </p:grpSpPr>
        <p:sp>
          <p:nvSpPr>
            <p:cNvPr id="33" name="Rounded Rectangle 32"/>
            <p:cNvSpPr/>
            <p:nvPr/>
          </p:nvSpPr>
          <p:spPr>
            <a:xfrm>
              <a:off x="819129" y="6638924"/>
              <a:ext cx="4609984" cy="657225"/>
            </a:xfrm>
            <a:prstGeom prst="roundRect">
              <a:avLst>
                <a:gd name="adj" fmla="val 23188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Round Same Side Corner Rectangle 33"/>
            <p:cNvSpPr/>
            <p:nvPr/>
          </p:nvSpPr>
          <p:spPr>
            <a:xfrm rot="16200000">
              <a:off x="556557" y="6901496"/>
              <a:ext cx="657225" cy="13208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42A5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35" name="Picture 34" descr="image.png"/>
            <p:cNvPicPr>
              <a:picLocks noChangeAspect="1"/>
            </p:cNvPicPr>
            <p:nvPr/>
          </p:nvPicPr>
          <p:blipFill>
            <a:blip r:embed="rId9">
              <a:alphaModFix/>
            </a:blip>
            <a:stretch>
              <a:fillRect/>
            </a:stretch>
          </p:blipFill>
          <p:spPr>
            <a:xfrm>
              <a:off x="971525" y="6797488"/>
              <a:ext cx="190495" cy="140073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1276318" y="6753224"/>
              <a:ext cx="1447763" cy="21907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56" b="1">
                  <a:solidFill>
                    <a:srgbClr val="1F2937"/>
                  </a:solidFill>
                  <a:latin typeface="Poppins"/>
                </a:rPr>
                <a:t>Cloud Deployment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276318" y="6981824"/>
              <a:ext cx="3124121" cy="200025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3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37" b="0">
                  <a:solidFill>
                    <a:srgbClr val="4B5563"/>
                  </a:solidFill>
                  <a:latin typeface="Poppins"/>
                </a:rPr>
                <a:t>Enable remote access and automatic backups</a:t>
              </a:r>
            </a:p>
          </p:txBody>
        </p:sp>
      </p:grpSp>
      <p:sp>
        <p:nvSpPr>
          <p:cNvPr id="38" name="Rectangle 37"/>
          <p:cNvSpPr/>
          <p:nvPr/>
        </p:nvSpPr>
        <p:spPr>
          <a:xfrm>
            <a:off x="6095847" y="1962149"/>
            <a:ext cx="38099" cy="3048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48243" y="1933574"/>
            <a:ext cx="2181170" cy="3714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1554" b="1" dirty="0">
                <a:solidFill>
                  <a:srgbClr val="1F2937"/>
                </a:solidFill>
                <a:latin typeface="Poppins"/>
              </a:rPr>
              <a:t>Project Summary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95847" y="2419349"/>
            <a:ext cx="5429114" cy="2152650"/>
          </a:xfrm>
          <a:prstGeom prst="roundRect">
            <a:avLst>
              <a:gd name="adj" fmla="val 10619"/>
            </a:avLst>
          </a:prstGeom>
          <a:gradFill rotWithShape="1">
            <a:gsLst>
              <a:gs pos="0">
                <a:srgbClr val="1976D2"/>
              </a:gs>
              <a:gs pos="100000">
                <a:srgbClr val="1565C0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286342" y="2609850"/>
            <a:ext cx="2466913" cy="828675"/>
          </a:xfrm>
          <a:prstGeom prst="roundRect">
            <a:avLst>
              <a:gd name="adj" fmla="val 18390"/>
            </a:avLst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175826" y="2708860"/>
            <a:ext cx="687945" cy="43063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74" b="1" dirty="0">
                <a:solidFill>
                  <a:srgbClr val="FFFFFF"/>
                </a:solidFill>
                <a:latin typeface="Poppins"/>
              </a:rPr>
              <a:t>2050</a:t>
            </a:r>
            <a:endParaRPr sz="1674" b="1" dirty="0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400639" y="3124200"/>
            <a:ext cx="2238319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3F4F6"/>
                </a:solidFill>
                <a:latin typeface="Poppins"/>
              </a:rPr>
              <a:t>Lines of Code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67553" y="2609850"/>
            <a:ext cx="2466913" cy="828675"/>
          </a:xfrm>
          <a:prstGeom prst="roundRect">
            <a:avLst>
              <a:gd name="adj" fmla="val 18390"/>
            </a:avLst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981850" y="2724150"/>
            <a:ext cx="2238319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 dirty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81850" y="3124200"/>
            <a:ext cx="2238319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3F4F6"/>
                </a:solidFill>
                <a:latin typeface="Poppins"/>
              </a:rPr>
              <a:t>Portal Architecture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86342" y="3552825"/>
            <a:ext cx="2466913" cy="828675"/>
          </a:xfrm>
          <a:prstGeom prst="roundRect">
            <a:avLst>
              <a:gd name="adj" fmla="val 18390"/>
            </a:avLst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00639" y="3667124"/>
            <a:ext cx="2238319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 dirty="0">
                <a:solidFill>
                  <a:srgbClr val="FFFFFF"/>
                </a:solidFill>
                <a:latin typeface="Poppins"/>
              </a:rPr>
              <a:t>100%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639" y="4067174"/>
            <a:ext cx="2238319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3F4F6"/>
                </a:solidFill>
                <a:latin typeface="Poppins"/>
              </a:rPr>
              <a:t>Input Validation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867553" y="3552825"/>
            <a:ext cx="2466913" cy="828675"/>
          </a:xfrm>
          <a:prstGeom prst="roundRect">
            <a:avLst>
              <a:gd name="adj" fmla="val 18390"/>
            </a:avLst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981850" y="3667124"/>
            <a:ext cx="2238319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81850" y="4067174"/>
            <a:ext cx="2238319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3F4F6"/>
                </a:solidFill>
                <a:latin typeface="Poppins"/>
              </a:rPr>
              <a:t>Cross-Platform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95847" y="4838699"/>
            <a:ext cx="38099" cy="3048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248243" y="4800600"/>
            <a:ext cx="3009824" cy="3714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1554" b="1" dirty="0">
                <a:solidFill>
                  <a:srgbClr val="1F2937"/>
                </a:solidFill>
                <a:latin typeface="Poppins"/>
              </a:rPr>
              <a:t>Development Roadmap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48243" y="5286375"/>
            <a:ext cx="723881" cy="276225"/>
          </a:xfrm>
          <a:prstGeom prst="roundRect">
            <a:avLst>
              <a:gd name="adj" fmla="val 6895862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248243" y="5286375"/>
            <a:ext cx="723881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FFFFFF"/>
                </a:solidFill>
                <a:latin typeface="Poppins"/>
              </a:rPr>
              <a:t>Phase 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86422" y="5314950"/>
            <a:ext cx="1914477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374151"/>
                </a:solidFill>
                <a:latin typeface="Poppins"/>
              </a:rPr>
              <a:t>GUI Development (GTK/Qt)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48243" y="5638799"/>
            <a:ext cx="752456" cy="276225"/>
          </a:xfrm>
          <a:prstGeom prst="roundRect">
            <a:avLst>
              <a:gd name="adj" fmla="val 6895862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248243" y="5638799"/>
            <a:ext cx="752456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FFFFFF"/>
                </a:solidFill>
                <a:latin typeface="Poppins"/>
              </a:rPr>
              <a:t>Phase 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14997" y="5667374"/>
            <a:ext cx="1419189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374151"/>
                </a:solidFill>
                <a:latin typeface="Poppins"/>
              </a:rPr>
              <a:t>Database Migration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248243" y="5991225"/>
            <a:ext cx="752456" cy="276225"/>
          </a:xfrm>
          <a:prstGeom prst="roundRect">
            <a:avLst>
              <a:gd name="adj" fmla="val 6895862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248243" y="5991225"/>
            <a:ext cx="752456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FFFFFF"/>
                </a:solidFill>
                <a:latin typeface="Poppins"/>
              </a:rPr>
              <a:t>Phase 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14997" y="6019800"/>
            <a:ext cx="1466813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0" dirty="0">
                <a:solidFill>
                  <a:srgbClr val="374151"/>
                </a:solidFill>
                <a:latin typeface="Poppins"/>
              </a:rPr>
              <a:t>Network Capabilities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48243" y="6343650"/>
            <a:ext cx="761980" cy="276225"/>
          </a:xfrm>
          <a:prstGeom prst="roundRect">
            <a:avLst>
              <a:gd name="adj" fmla="val 6895862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248243" y="6343650"/>
            <a:ext cx="761980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FFFFFF"/>
                </a:solidFill>
                <a:latin typeface="Poppins"/>
              </a:rPr>
              <a:t>Phase 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24521" y="6372225"/>
            <a:ext cx="1333466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0" dirty="0">
                <a:solidFill>
                  <a:srgbClr val="374151"/>
                </a:solidFill>
                <a:latin typeface="Poppins"/>
              </a:rPr>
              <a:t>Cloud Deployment</a:t>
            </a:r>
          </a:p>
        </p:txBody>
      </p:sp>
      <p:sp>
        <p:nvSpPr>
          <p:cNvPr id="69" name="Rounded Rectangle 4">
            <a:extLst>
              <a:ext uri="{FF2B5EF4-FFF2-40B4-BE49-F238E27FC236}">
                <a16:creationId xmlns:a16="http://schemas.microsoft.com/office/drawing/2014/main" id="{47A5D869-B3F6-4127-A9E2-017E1861D257}"/>
              </a:ext>
            </a:extLst>
          </p:cNvPr>
          <p:cNvSpPr/>
          <p:nvPr/>
        </p:nvSpPr>
        <p:spPr>
          <a:xfrm>
            <a:off x="7745437" y="341573"/>
            <a:ext cx="2571685" cy="380999"/>
          </a:xfrm>
          <a:prstGeom prst="roundRect">
            <a:avLst>
              <a:gd name="adj" fmla="val 49995000"/>
            </a:avLst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ECB4744-1475-4367-B94D-D9F669A12833}"/>
              </a:ext>
            </a:extLst>
          </p:cNvPr>
          <p:cNvSpPr txBox="1"/>
          <p:nvPr/>
        </p:nvSpPr>
        <p:spPr>
          <a:xfrm>
            <a:off x="8174067" y="367756"/>
            <a:ext cx="1891800" cy="29899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>
                <a:solidFill>
                  <a:srgbClr val="FFFFFF"/>
                </a:solidFill>
                <a:latin typeface="Poppins"/>
              </a:rPr>
              <a:t>Presented</a:t>
            </a:r>
            <a:r>
              <a:rPr lang="en-US" sz="956" b="0" dirty="0">
                <a:solidFill>
                  <a:srgbClr val="FFFFFF"/>
                </a:solidFill>
                <a:latin typeface="Poppins"/>
              </a:rPr>
              <a:t> By </a:t>
            </a:r>
            <a:r>
              <a:rPr lang="en-US" sz="956" b="0" dirty="0" err="1">
                <a:solidFill>
                  <a:srgbClr val="FFFFFF"/>
                </a:solidFill>
                <a:latin typeface="Poppins"/>
              </a:rPr>
              <a:t>Ayrin</a:t>
            </a:r>
            <a:r>
              <a:rPr lang="en-US" sz="956" b="0" dirty="0">
                <a:solidFill>
                  <a:srgbClr val="FFFFFF"/>
                </a:solidFill>
                <a:latin typeface="Poppins"/>
              </a:rPr>
              <a:t> </a:t>
            </a:r>
            <a:r>
              <a:rPr lang="en-US" sz="956" b="0" dirty="0" err="1">
                <a:solidFill>
                  <a:srgbClr val="FFFFFF"/>
                </a:solidFill>
                <a:latin typeface="Poppins"/>
              </a:rPr>
              <a:t>Alom</a:t>
            </a:r>
            <a:r>
              <a:rPr lang="en-US" sz="956" b="0" dirty="0">
                <a:solidFill>
                  <a:srgbClr val="FFFFFF"/>
                </a:solidFill>
                <a:latin typeface="Poppins"/>
              </a:rPr>
              <a:t> Any</a:t>
            </a:r>
            <a:endParaRPr sz="956" b="0" dirty="0">
              <a:solidFill>
                <a:srgbClr val="FFFFFF"/>
              </a:solidFill>
              <a:latin typeface="Poppi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603</Words>
  <Application>Microsoft Office PowerPoint</Application>
  <PresentationFormat>Widescreen</PresentationFormat>
  <Paragraphs>178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Poppins</vt:lpstr>
      <vt:lpstr>SFMono-Regular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DELL</dc:creator>
  <cp:keywords/>
  <dc:description>generated using python-pptx</dc:description>
  <cp:lastModifiedBy>DELL</cp:lastModifiedBy>
  <cp:revision>5</cp:revision>
  <dcterms:created xsi:type="dcterms:W3CDTF">2013-01-27T09:14:16Z</dcterms:created>
  <dcterms:modified xsi:type="dcterms:W3CDTF">2026-04-19T03:05:37Z</dcterms:modified>
  <cp:category/>
</cp:coreProperties>
</file>